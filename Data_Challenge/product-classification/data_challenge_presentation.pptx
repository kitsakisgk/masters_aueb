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3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306417" y="1544665"/>
            <a:ext cx="8526296" cy="2083755"/>
          </a:xfrm>
          <a:prstGeom prst="rect">
            <a:avLst/>
          </a:prstGeom>
        </p:spPr>
        <p:txBody>
          <a:bodyPr/>
          <a:lstStyle/>
          <a:p>
            <a:pPr/>
            <a:r>
              <a:t>Data Challenge 2025</a:t>
            </a:r>
            <a:br/>
            <a:r>
              <a:t>«</a:t>
            </a:r>
            <a:r>
              <a:t>Product Classification Challenge</a:t>
            </a:r>
            <a:r>
              <a:t>»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3638143" y="4889027"/>
            <a:ext cx="5680955" cy="1376465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500"/>
              </a:spcBef>
              <a:defRPr sz="2400" u="sng">
                <a:solidFill>
                  <a:srgbClr val="63252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Presentation by </a:t>
            </a:r>
          </a:p>
          <a:p>
            <a:pPr algn="l">
              <a:spcBef>
                <a:spcPts val="500"/>
              </a:spcBef>
              <a:defRPr sz="2400">
                <a:solidFill>
                  <a:srgbClr val="63252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Theofanopoulos Michail</a:t>
            </a:r>
            <a:r>
              <a:t> </a:t>
            </a:r>
            <a:r>
              <a:t>- P3352401</a:t>
            </a:r>
          </a:p>
          <a:p>
            <a:pPr algn="l">
              <a:spcBef>
                <a:spcPts val="500"/>
              </a:spcBef>
              <a:defRPr sz="2400">
                <a:solidFill>
                  <a:srgbClr val="63252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Kitsakis Georgios - P3352406</a:t>
            </a:r>
          </a:p>
        </p:txBody>
      </p:sp>
      <p:sp>
        <p:nvSpPr>
          <p:cNvPr id="96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Box 5"/>
          <p:cNvSpPr txBox="1"/>
          <p:nvPr/>
        </p:nvSpPr>
        <p:spPr>
          <a:xfrm>
            <a:off x="522374" y="4889027"/>
            <a:ext cx="2729583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u="sng">
                <a:solidFill>
                  <a:srgbClr val="63252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Date</a:t>
            </a:r>
          </a:p>
          <a:p>
            <a:pPr>
              <a:defRPr sz="2400">
                <a:solidFill>
                  <a:srgbClr val="63252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3 June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0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Dataset Brief Overview</a:t>
            </a:r>
          </a:p>
        </p:txBody>
      </p:sp>
      <p:pic>
        <p:nvPicPr>
          <p:cNvPr id="10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522" y="1323111"/>
            <a:ext cx="1922661" cy="2354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05241" y="1323111"/>
            <a:ext cx="2133518" cy="2354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82615" y="3798115"/>
            <a:ext cx="1962955" cy="24073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71237" y="1326320"/>
            <a:ext cx="2133518" cy="2348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284481" y="3798115"/>
            <a:ext cx="2008672" cy="24073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Εικόνα 5" descr="Εικόνα 5"/>
          <p:cNvPicPr>
            <a:picLocks noChangeAspect="1"/>
          </p:cNvPicPr>
          <p:nvPr/>
        </p:nvPicPr>
        <p:blipFill>
          <a:blip r:embed="rId3">
            <a:extLst/>
          </a:blip>
          <a:srcRect l="12060" t="47857" r="15919" b="28504"/>
          <a:stretch>
            <a:fillRect/>
          </a:stretch>
        </p:blipFill>
        <p:spPr>
          <a:xfrm>
            <a:off x="2453638" y="3791120"/>
            <a:ext cx="4236722" cy="144619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TF – IDF Feature Engineering</a:t>
            </a:r>
          </a:p>
        </p:txBody>
      </p:sp>
      <p:sp>
        <p:nvSpPr>
          <p:cNvPr id="113" name="TextBox 8"/>
          <p:cNvSpPr txBox="1"/>
          <p:nvPr/>
        </p:nvSpPr>
        <p:spPr>
          <a:xfrm>
            <a:off x="3285933" y="3475818"/>
            <a:ext cx="317963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Three-Vectorizer Strategy:</a:t>
            </a:r>
          </a:p>
        </p:txBody>
      </p:sp>
      <p:sp>
        <p:nvSpPr>
          <p:cNvPr id="114" name="TextBox 9"/>
          <p:cNvSpPr txBox="1"/>
          <p:nvPr/>
        </p:nvSpPr>
        <p:spPr>
          <a:xfrm>
            <a:off x="1941613" y="5285959"/>
            <a:ext cx="612923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latin typeface="Georgia"/>
                <a:ea typeface="Georgia"/>
                <a:cs typeface="Georgia"/>
                <a:sym typeface="Georgia"/>
              </a:defRPr>
            </a:pPr>
            <a:r>
              <a:t>Final Output: </a:t>
            </a:r>
            <a:r>
              <a:rPr b="0"/>
              <a:t>26.000 features -&gt; Chi-squared selection -&gt; 15.000 features</a:t>
            </a:r>
          </a:p>
        </p:txBody>
      </p:sp>
      <p:grpSp>
        <p:nvGrpSpPr>
          <p:cNvPr id="130" name="Ομάδα 22"/>
          <p:cNvGrpSpPr/>
          <p:nvPr/>
        </p:nvGrpSpPr>
        <p:grpSpPr>
          <a:xfrm>
            <a:off x="608328" y="2373239"/>
            <a:ext cx="7508242" cy="531509"/>
            <a:chOff x="0" y="0"/>
            <a:chExt cx="7508240" cy="531507"/>
          </a:xfrm>
        </p:grpSpPr>
        <p:grpSp>
          <p:nvGrpSpPr>
            <p:cNvPr id="117" name="Ορθογώνιο 10"/>
            <p:cNvGrpSpPr/>
            <p:nvPr/>
          </p:nvGrpSpPr>
          <p:grpSpPr>
            <a:xfrm>
              <a:off x="0" y="6973"/>
              <a:ext cx="1605280" cy="524536"/>
              <a:chOff x="0" y="0"/>
              <a:chExt cx="1605279" cy="524534"/>
            </a:xfrm>
          </p:grpSpPr>
          <p:sp>
            <p:nvSpPr>
              <p:cNvPr id="115" name="Rectangle"/>
              <p:cNvSpPr/>
              <p:nvPr/>
            </p:nvSpPr>
            <p:spPr>
              <a:xfrm>
                <a:off x="-1" y="0"/>
                <a:ext cx="1605281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16" name="Product Text"/>
              <p:cNvSpPr txBox="1"/>
              <p:nvPr/>
            </p:nvSpPr>
            <p:spPr>
              <a:xfrm>
                <a:off x="52069" y="121868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Product Text</a:t>
                </a:r>
              </a:p>
            </p:txBody>
          </p:sp>
        </p:grpSp>
        <p:grpSp>
          <p:nvGrpSpPr>
            <p:cNvPr id="120" name="Ορθογώνιο 15"/>
            <p:cNvGrpSpPr/>
            <p:nvPr/>
          </p:nvGrpSpPr>
          <p:grpSpPr>
            <a:xfrm>
              <a:off x="1971040" y="6419"/>
              <a:ext cx="1605280" cy="510593"/>
              <a:chOff x="0" y="0"/>
              <a:chExt cx="1605279" cy="510591"/>
            </a:xfrm>
          </p:grpSpPr>
          <p:sp>
            <p:nvSpPr>
              <p:cNvPr id="118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19" name="Tokenization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Tokenization</a:t>
                </a:r>
              </a:p>
            </p:txBody>
          </p:sp>
        </p:grpSp>
        <p:grpSp>
          <p:nvGrpSpPr>
            <p:cNvPr id="123" name="Ορθογώνιο 16"/>
            <p:cNvGrpSpPr/>
            <p:nvPr/>
          </p:nvGrpSpPr>
          <p:grpSpPr>
            <a:xfrm>
              <a:off x="3931920" y="0"/>
              <a:ext cx="1605280" cy="510604"/>
              <a:chOff x="0" y="0"/>
              <a:chExt cx="1605279" cy="510602"/>
            </a:xfrm>
          </p:grpSpPr>
          <p:sp>
            <p:nvSpPr>
              <p:cNvPr id="121" name="Rectangle"/>
              <p:cNvSpPr/>
              <p:nvPr/>
            </p:nvSpPr>
            <p:spPr>
              <a:xfrm>
                <a:off x="-1" y="0"/>
                <a:ext cx="1605281" cy="51060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22" name="3 Vectorizers"/>
              <p:cNvSpPr txBox="1"/>
              <p:nvPr/>
            </p:nvSpPr>
            <p:spPr>
              <a:xfrm>
                <a:off x="52069" y="88757"/>
                <a:ext cx="1501141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/>
                <a:r>
                  <a:t>3 </a:t>
                </a:r>
                <a:r>
                  <a:rPr sz="1400"/>
                  <a:t>Vectorizers</a:t>
                </a:r>
              </a:p>
            </p:txBody>
          </p:sp>
        </p:grpSp>
        <p:grpSp>
          <p:nvGrpSpPr>
            <p:cNvPr id="126" name="Ορθογώνιο 17"/>
            <p:cNvGrpSpPr/>
            <p:nvPr/>
          </p:nvGrpSpPr>
          <p:grpSpPr>
            <a:xfrm>
              <a:off x="5902961" y="13944"/>
              <a:ext cx="1605280" cy="510593"/>
              <a:chOff x="0" y="0"/>
              <a:chExt cx="1605279" cy="510591"/>
            </a:xfrm>
          </p:grpSpPr>
          <p:sp>
            <p:nvSpPr>
              <p:cNvPr id="124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25" name="Feature Selection"/>
              <p:cNvSpPr txBox="1"/>
              <p:nvPr/>
            </p:nvSpPr>
            <p:spPr>
              <a:xfrm>
                <a:off x="52069" y="88751"/>
                <a:ext cx="1501141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400"/>
                </a:pPr>
                <a:r>
                  <a:t>Feature</a:t>
                </a:r>
                <a:r>
                  <a:rPr sz="1800"/>
                  <a:t> </a:t>
                </a:r>
                <a:r>
                  <a:t>Selection</a:t>
                </a:r>
              </a:p>
            </p:txBody>
          </p:sp>
        </p:grpSp>
        <p:sp>
          <p:nvSpPr>
            <p:cNvPr id="127" name="Ευθύγραμμο βέλος σύνδεσης 19"/>
            <p:cNvSpPr/>
            <p:nvPr/>
          </p:nvSpPr>
          <p:spPr>
            <a:xfrm>
              <a:off x="1653539" y="25850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8" name="Ευθύγραμμο βέλος σύνδεσης 20"/>
            <p:cNvSpPr/>
            <p:nvPr/>
          </p:nvSpPr>
          <p:spPr>
            <a:xfrm>
              <a:off x="3623309" y="269240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9" name="Ευθύγραμμο βέλος σύνδεσης 21"/>
            <p:cNvSpPr/>
            <p:nvPr/>
          </p:nvSpPr>
          <p:spPr>
            <a:xfrm>
              <a:off x="5589270" y="27997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Box 7"/>
          <p:cNvSpPr txBox="1"/>
          <p:nvPr/>
        </p:nvSpPr>
        <p:spPr>
          <a:xfrm>
            <a:off x="2185805" y="768485"/>
            <a:ext cx="488912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TF – IDF Classification Results</a:t>
            </a:r>
          </a:p>
        </p:txBody>
      </p:sp>
      <p:grpSp>
        <p:nvGrpSpPr>
          <p:cNvPr id="139" name="Ομάδα 11"/>
          <p:cNvGrpSpPr/>
          <p:nvPr/>
        </p:nvGrpSpPr>
        <p:grpSpPr>
          <a:xfrm>
            <a:off x="771333" y="2461260"/>
            <a:ext cx="7718067" cy="2164080"/>
            <a:chOff x="0" y="0"/>
            <a:chExt cx="7718066" cy="2164079"/>
          </a:xfrm>
        </p:grpSpPr>
        <p:pic>
          <p:nvPicPr>
            <p:cNvPr id="135" name="Picture 2" descr="Picture 2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2042" t="46232" r="16380" b="25217"/>
            <a:stretch>
              <a:fillRect/>
            </a:stretch>
          </p:blipFill>
          <p:spPr>
            <a:xfrm>
              <a:off x="3849855" y="5667"/>
              <a:ext cx="1862754" cy="21442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" name="Picture 2" descr="Picture 2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8486" t="46423" r="61086" b="25026"/>
            <a:stretch>
              <a:fillRect/>
            </a:stretch>
          </p:blipFill>
          <p:spPr>
            <a:xfrm>
              <a:off x="5918630" y="0"/>
              <a:ext cx="1799437" cy="2149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" name="Picture 2" descr="Picture 2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2255" t="8415" r="14075" b="58431"/>
            <a:stretch>
              <a:fillRect/>
            </a:stretch>
          </p:blipFill>
          <p:spPr>
            <a:xfrm>
              <a:off x="1933566" y="19837"/>
              <a:ext cx="1710269" cy="21442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" name="Picture 2" descr="Picture 2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7310" t="8416" r="56664" b="56014"/>
            <a:stretch>
              <a:fillRect/>
            </a:stretch>
          </p:blipFill>
          <p:spPr>
            <a:xfrm>
              <a:off x="-1" y="5667"/>
              <a:ext cx="1710269" cy="21499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0" name="TextBox 12"/>
          <p:cNvSpPr txBox="1"/>
          <p:nvPr/>
        </p:nvSpPr>
        <p:spPr>
          <a:xfrm>
            <a:off x="817052" y="4879521"/>
            <a:ext cx="5230638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Key Findings:</a:t>
            </a:r>
          </a:p>
          <a:p>
            <a:pPr marL="285750" indent="-285750">
              <a:buSzPct val="100000"/>
              <a:buFont typeface="Arial"/>
              <a:buChar char="•"/>
              <a:defRPr b="1" sz="1200">
                <a:latin typeface="Georgia"/>
                <a:ea typeface="Georgia"/>
                <a:cs typeface="Georgia"/>
                <a:sym typeface="Georgia"/>
              </a:defRPr>
            </a:pPr>
            <a:r>
              <a:t>Linear models excel </a:t>
            </a:r>
            <a:r>
              <a:rPr b="0"/>
              <a:t>with space TF-IDF features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 sz="1200">
                <a:latin typeface="Georgia"/>
                <a:ea typeface="Georgia"/>
                <a:cs typeface="Georgia"/>
                <a:sym typeface="Georgia"/>
              </a:defRPr>
            </a:pPr>
            <a:r>
              <a:t>Calibration essential </a:t>
            </a:r>
            <a:r>
              <a:rPr b="0"/>
              <a:t>for log-loss optimization 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 sz="1200">
                <a:latin typeface="Georgia"/>
                <a:ea typeface="Georgia"/>
                <a:cs typeface="Georgia"/>
                <a:sym typeface="Georgia"/>
              </a:defRPr>
            </a:pPr>
            <a:r>
              <a:t>Class balancing </a:t>
            </a:r>
            <a:r>
              <a:rPr b="0"/>
              <a:t>for imbalanced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TextBox 7"/>
          <p:cNvSpPr txBox="1"/>
          <p:nvPr/>
        </p:nvSpPr>
        <p:spPr>
          <a:xfrm>
            <a:off x="2185805" y="768485"/>
            <a:ext cx="488912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Word2Vec Feature Engineering</a:t>
            </a:r>
          </a:p>
        </p:txBody>
      </p:sp>
      <p:sp>
        <p:nvSpPr>
          <p:cNvPr id="145" name="TextBox 1"/>
          <p:cNvSpPr txBox="1"/>
          <p:nvPr/>
        </p:nvSpPr>
        <p:spPr>
          <a:xfrm>
            <a:off x="5115967" y="4594016"/>
            <a:ext cx="3787237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Word2Vec vs TF-IDF: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Semantic similarity</a:t>
            </a:r>
            <a:r>
              <a:rPr i="0"/>
              <a:t>: </a:t>
            </a:r>
            <a:r>
              <a:rPr b="0" i="0"/>
              <a:t>Captures word relationships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Dense representations</a:t>
            </a:r>
            <a:r>
              <a:rPr i="0"/>
              <a:t>: </a:t>
            </a:r>
            <a:r>
              <a:rPr b="0" i="0"/>
              <a:t>100D vs 15.000 sparse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Complementary signal</a:t>
            </a:r>
            <a:r>
              <a:rPr i="0"/>
              <a:t>: </a:t>
            </a:r>
            <a:r>
              <a:rPr b="0" i="0"/>
              <a:t>Different from frequency-based</a:t>
            </a:r>
          </a:p>
        </p:txBody>
      </p:sp>
      <p:sp>
        <p:nvSpPr>
          <p:cNvPr id="146" name="TextBox 8"/>
          <p:cNvSpPr txBox="1"/>
          <p:nvPr/>
        </p:nvSpPr>
        <p:spPr>
          <a:xfrm>
            <a:off x="240795" y="4610196"/>
            <a:ext cx="4857379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Processing Steps: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Tokenization</a:t>
            </a:r>
            <a:r>
              <a:rPr i="0"/>
              <a:t>: </a:t>
            </a:r>
            <a:r>
              <a:rPr b="0" i="0"/>
              <a:t>Lemmatization+ Stemming + Stop word removal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Training</a:t>
            </a:r>
            <a:r>
              <a:rPr i="0"/>
              <a:t>: </a:t>
            </a:r>
            <a:r>
              <a:rPr b="0" i="0"/>
              <a:t>Skip-gram on 276.453 product descriptions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Embedding</a:t>
            </a:r>
            <a:r>
              <a:rPr i="0"/>
              <a:t>: </a:t>
            </a:r>
            <a:r>
              <a:rPr b="0" i="0"/>
              <a:t>Average word vectors per document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Output</a:t>
            </a:r>
            <a:r>
              <a:rPr i="0"/>
              <a:t>: </a:t>
            </a:r>
            <a:r>
              <a:rPr b="0" i="0"/>
              <a:t>100-dimensional dense vectors</a:t>
            </a:r>
          </a:p>
        </p:txBody>
      </p:sp>
      <p:grpSp>
        <p:nvGrpSpPr>
          <p:cNvPr id="162" name="Ομάδα 9"/>
          <p:cNvGrpSpPr/>
          <p:nvPr/>
        </p:nvGrpSpPr>
        <p:grpSpPr>
          <a:xfrm>
            <a:off x="608329" y="2266844"/>
            <a:ext cx="7508241" cy="586838"/>
            <a:chOff x="0" y="0"/>
            <a:chExt cx="7508240" cy="586837"/>
          </a:xfrm>
        </p:grpSpPr>
        <p:grpSp>
          <p:nvGrpSpPr>
            <p:cNvPr id="149" name="Ορθογώνιο 10"/>
            <p:cNvGrpSpPr/>
            <p:nvPr/>
          </p:nvGrpSpPr>
          <p:grpSpPr>
            <a:xfrm>
              <a:off x="0" y="38120"/>
              <a:ext cx="1605280" cy="524536"/>
              <a:chOff x="0" y="0"/>
              <a:chExt cx="1605279" cy="524534"/>
            </a:xfrm>
          </p:grpSpPr>
          <p:sp>
            <p:nvSpPr>
              <p:cNvPr id="147" name="Rectangle"/>
              <p:cNvSpPr/>
              <p:nvPr/>
            </p:nvSpPr>
            <p:spPr>
              <a:xfrm>
                <a:off x="-1" y="0"/>
                <a:ext cx="1605281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48" name="All Descriptions"/>
              <p:cNvSpPr txBox="1"/>
              <p:nvPr/>
            </p:nvSpPr>
            <p:spPr>
              <a:xfrm>
                <a:off x="52069" y="95723"/>
                <a:ext cx="1501141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400"/>
                </a:pPr>
                <a:r>
                  <a:t>All</a:t>
                </a:r>
                <a:r>
                  <a:rPr sz="1800"/>
                  <a:t> </a:t>
                </a:r>
                <a:r>
                  <a:t>Descriptions</a:t>
                </a:r>
              </a:p>
            </p:txBody>
          </p:sp>
        </p:grpSp>
        <p:grpSp>
          <p:nvGrpSpPr>
            <p:cNvPr id="152" name="Ορθογώνιο 11"/>
            <p:cNvGrpSpPr/>
            <p:nvPr/>
          </p:nvGrpSpPr>
          <p:grpSpPr>
            <a:xfrm>
              <a:off x="1971040" y="37567"/>
              <a:ext cx="1605280" cy="510592"/>
              <a:chOff x="0" y="0"/>
              <a:chExt cx="1605279" cy="510591"/>
            </a:xfrm>
          </p:grpSpPr>
          <p:sp>
            <p:nvSpPr>
              <p:cNvPr id="150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51" name="Tokenization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Tokenization</a:t>
                </a:r>
              </a:p>
            </p:txBody>
          </p:sp>
        </p:grpSp>
        <p:grpSp>
          <p:nvGrpSpPr>
            <p:cNvPr id="155" name="Ορθογώνιο 13"/>
            <p:cNvGrpSpPr/>
            <p:nvPr/>
          </p:nvGrpSpPr>
          <p:grpSpPr>
            <a:xfrm>
              <a:off x="3931920" y="0"/>
              <a:ext cx="1605280" cy="572899"/>
              <a:chOff x="0" y="0"/>
              <a:chExt cx="1605279" cy="572898"/>
            </a:xfrm>
          </p:grpSpPr>
          <p:sp>
            <p:nvSpPr>
              <p:cNvPr id="153" name="Rectangle"/>
              <p:cNvSpPr/>
              <p:nvPr/>
            </p:nvSpPr>
            <p:spPr>
              <a:xfrm>
                <a:off x="0" y="31147"/>
                <a:ext cx="1605280" cy="510604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54" name="3 Word2Vec Training"/>
              <p:cNvSpPr txBox="1"/>
              <p:nvPr/>
            </p:nvSpPr>
            <p:spPr>
              <a:xfrm>
                <a:off x="52069" y="0"/>
                <a:ext cx="1501141" cy="5728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400"/>
                </a:pPr>
                <a:r>
                  <a:t>3</a:t>
                </a:r>
                <a:r>
                  <a:rPr sz="1800"/>
                  <a:t> </a:t>
                </a:r>
                <a:r>
                  <a:t>Word2Vec Training</a:t>
                </a:r>
              </a:p>
            </p:txBody>
          </p:sp>
        </p:grpSp>
        <p:grpSp>
          <p:nvGrpSpPr>
            <p:cNvPr id="158" name="Ορθογώνιο 14"/>
            <p:cNvGrpSpPr/>
            <p:nvPr/>
          </p:nvGrpSpPr>
          <p:grpSpPr>
            <a:xfrm>
              <a:off x="5902961" y="13938"/>
              <a:ext cx="1605280" cy="572900"/>
              <a:chOff x="0" y="0"/>
              <a:chExt cx="1605279" cy="572898"/>
            </a:xfrm>
          </p:grpSpPr>
          <p:sp>
            <p:nvSpPr>
              <p:cNvPr id="156" name="Rectangle"/>
              <p:cNvSpPr/>
              <p:nvPr/>
            </p:nvSpPr>
            <p:spPr>
              <a:xfrm>
                <a:off x="0" y="31153"/>
                <a:ext cx="1605280" cy="510592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57" name="Document Embeddings"/>
              <p:cNvSpPr txBox="1"/>
              <p:nvPr/>
            </p:nvSpPr>
            <p:spPr>
              <a:xfrm>
                <a:off x="52069" y="0"/>
                <a:ext cx="1501141" cy="5728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400"/>
                </a:pPr>
                <a:r>
                  <a:t>Document</a:t>
                </a:r>
                <a:r>
                  <a:rPr sz="1800"/>
                  <a:t> </a:t>
                </a:r>
                <a:r>
                  <a:t>Embeddings</a:t>
                </a:r>
              </a:p>
            </p:txBody>
          </p:sp>
        </p:grpSp>
        <p:sp>
          <p:nvSpPr>
            <p:cNvPr id="159" name="Ευθύγραμμο βέλος σύνδεσης 15"/>
            <p:cNvSpPr/>
            <p:nvPr/>
          </p:nvSpPr>
          <p:spPr>
            <a:xfrm>
              <a:off x="1653539" y="289653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0" name="Ευθύγραμμο βέλος σύνδεσης 16"/>
            <p:cNvSpPr/>
            <p:nvPr/>
          </p:nvSpPr>
          <p:spPr>
            <a:xfrm>
              <a:off x="3623309" y="300388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1" name="Ευθύγραμμο βέλος σύνδεσης 17"/>
            <p:cNvSpPr/>
            <p:nvPr/>
          </p:nvSpPr>
          <p:spPr>
            <a:xfrm>
              <a:off x="5589270" y="311123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6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12455" y="3268665"/>
            <a:ext cx="4319090" cy="10851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7"/>
          <p:cNvSpPr txBox="1"/>
          <p:nvPr/>
        </p:nvSpPr>
        <p:spPr>
          <a:xfrm>
            <a:off x="2185805" y="768485"/>
            <a:ext cx="488912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Word2Vec Classification Results</a:t>
            </a:r>
          </a:p>
        </p:txBody>
      </p:sp>
      <p:grpSp>
        <p:nvGrpSpPr>
          <p:cNvPr id="172" name="Ομάδα 24"/>
          <p:cNvGrpSpPr/>
          <p:nvPr/>
        </p:nvGrpSpPr>
        <p:grpSpPr>
          <a:xfrm>
            <a:off x="679637" y="2383603"/>
            <a:ext cx="7901456" cy="1761678"/>
            <a:chOff x="0" y="0"/>
            <a:chExt cx="7901454" cy="1761676"/>
          </a:xfrm>
        </p:grpSpPr>
        <p:pic>
          <p:nvPicPr>
            <p:cNvPr id="168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3475" t="37482" r="18229" b="45848"/>
            <a:stretch>
              <a:fillRect/>
            </a:stretch>
          </p:blipFill>
          <p:spPr>
            <a:xfrm>
              <a:off x="5970977" y="1"/>
              <a:ext cx="1930478" cy="176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7298" t="37507" r="64591" b="45929"/>
            <a:stretch>
              <a:fillRect/>
            </a:stretch>
          </p:blipFill>
          <p:spPr>
            <a:xfrm>
              <a:off x="3977266" y="0"/>
              <a:ext cx="1930478" cy="17616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3476" t="12406" r="17471" b="70383"/>
            <a:stretch>
              <a:fillRect/>
            </a:stretch>
          </p:blipFill>
          <p:spPr>
            <a:xfrm>
              <a:off x="1993936" y="0"/>
              <a:ext cx="1920096" cy="17616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8194" t="12459" r="62754" b="70425"/>
            <a:stretch>
              <a:fillRect/>
            </a:stretch>
          </p:blipFill>
          <p:spPr>
            <a:xfrm>
              <a:off x="-1" y="1"/>
              <a:ext cx="1930703" cy="1761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3" name="TextBox 25"/>
          <p:cNvSpPr txBox="1"/>
          <p:nvPr/>
        </p:nvSpPr>
        <p:spPr>
          <a:xfrm>
            <a:off x="725358" y="4540472"/>
            <a:ext cx="3822593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Performance Analysis: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TF-IDF superior</a:t>
            </a:r>
            <a:r>
              <a:rPr i="0"/>
              <a:t>: </a:t>
            </a:r>
            <a:r>
              <a:rPr b="0" i="0"/>
              <a:t>0,30 vs 0,57 log-loss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Reason</a:t>
            </a:r>
            <a:r>
              <a:rPr i="0"/>
              <a:t>: </a:t>
            </a:r>
            <a:r>
              <a:rPr b="0" i="0"/>
              <a:t>Distinctive vocabulary better captured by frequency methods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Value</a:t>
            </a:r>
            <a:r>
              <a:rPr i="0"/>
              <a:t>: </a:t>
            </a:r>
            <a:r>
              <a:rPr b="0" i="0"/>
              <a:t>Complementary signal for ensemble learning</a:t>
            </a:r>
          </a:p>
        </p:txBody>
      </p:sp>
      <p:sp>
        <p:nvSpPr>
          <p:cNvPr id="174" name="TextBox 27"/>
          <p:cNvSpPr txBox="1"/>
          <p:nvPr/>
        </p:nvSpPr>
        <p:spPr>
          <a:xfrm>
            <a:off x="4639391" y="4540472"/>
            <a:ext cx="375354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Neural Network(MLP):</a:t>
            </a:r>
            <a:endParaRPr i="1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Result: </a:t>
            </a:r>
            <a:r>
              <a:rPr b="0"/>
              <a:t>0,3659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Architecture: </a:t>
            </a:r>
            <a:r>
              <a:rPr b="0"/>
              <a:t>100 -&gt; 512 -&gt; 256 -&gt; 16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Training</a:t>
            </a:r>
            <a:r>
              <a:rPr i="0"/>
              <a:t>: </a:t>
            </a:r>
            <a:r>
              <a:rPr b="0" i="0"/>
              <a:t>Adam optimizer, lt=0,0005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Graph Feature Engineering</a:t>
            </a:r>
          </a:p>
        </p:txBody>
      </p:sp>
      <p:pic>
        <p:nvPicPr>
          <p:cNvPr id="17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rcRect l="9697" t="68685" r="11147" b="18870"/>
          <a:stretch>
            <a:fillRect/>
          </a:stretch>
        </p:blipFill>
        <p:spPr>
          <a:xfrm>
            <a:off x="1946187" y="5580831"/>
            <a:ext cx="4575989" cy="6793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10041" t="43512" r="9266" b="38349"/>
          <a:stretch>
            <a:fillRect/>
          </a:stretch>
        </p:blipFill>
        <p:spPr>
          <a:xfrm>
            <a:off x="1205773" y="3370734"/>
            <a:ext cx="6668953" cy="1415532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Box 1"/>
          <p:cNvSpPr txBox="1"/>
          <p:nvPr/>
        </p:nvSpPr>
        <p:spPr>
          <a:xfrm>
            <a:off x="654048" y="2937016"/>
            <a:ext cx="172136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Two Approaches:</a:t>
            </a:r>
          </a:p>
        </p:txBody>
      </p:sp>
      <p:sp>
        <p:nvSpPr>
          <p:cNvPr id="182" name="TextBox 2"/>
          <p:cNvSpPr txBox="1"/>
          <p:nvPr/>
        </p:nvSpPr>
        <p:spPr>
          <a:xfrm>
            <a:off x="654048" y="5168086"/>
            <a:ext cx="191948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Graph Statistics:</a:t>
            </a:r>
          </a:p>
        </p:txBody>
      </p:sp>
      <p:grpSp>
        <p:nvGrpSpPr>
          <p:cNvPr id="198" name="Ομάδα 5"/>
          <p:cNvGrpSpPr/>
          <p:nvPr/>
        </p:nvGrpSpPr>
        <p:grpSpPr>
          <a:xfrm>
            <a:off x="608328" y="2015099"/>
            <a:ext cx="7508242" cy="531509"/>
            <a:chOff x="0" y="0"/>
            <a:chExt cx="7508240" cy="531507"/>
          </a:xfrm>
        </p:grpSpPr>
        <p:grpSp>
          <p:nvGrpSpPr>
            <p:cNvPr id="185" name="Ορθογώνιο 6"/>
            <p:cNvGrpSpPr/>
            <p:nvPr/>
          </p:nvGrpSpPr>
          <p:grpSpPr>
            <a:xfrm>
              <a:off x="0" y="6973"/>
              <a:ext cx="1605280" cy="524536"/>
              <a:chOff x="0" y="0"/>
              <a:chExt cx="1605279" cy="524534"/>
            </a:xfrm>
          </p:grpSpPr>
          <p:sp>
            <p:nvSpPr>
              <p:cNvPr id="183" name="Rectangle"/>
              <p:cNvSpPr/>
              <p:nvPr/>
            </p:nvSpPr>
            <p:spPr>
              <a:xfrm>
                <a:off x="-1" y="0"/>
                <a:ext cx="1605281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84" name="Co-viewing Data"/>
              <p:cNvSpPr txBox="1"/>
              <p:nvPr/>
            </p:nvSpPr>
            <p:spPr>
              <a:xfrm>
                <a:off x="52069" y="121868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Co-viewing Data</a:t>
                </a:r>
              </a:p>
            </p:txBody>
          </p:sp>
        </p:grpSp>
        <p:grpSp>
          <p:nvGrpSpPr>
            <p:cNvPr id="188" name="Ορθογώνιο 8"/>
            <p:cNvGrpSpPr/>
            <p:nvPr/>
          </p:nvGrpSpPr>
          <p:grpSpPr>
            <a:xfrm>
              <a:off x="1971040" y="6419"/>
              <a:ext cx="1605280" cy="510593"/>
              <a:chOff x="0" y="0"/>
              <a:chExt cx="1605279" cy="510591"/>
            </a:xfrm>
          </p:grpSpPr>
          <p:sp>
            <p:nvSpPr>
              <p:cNvPr id="186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87" name="NetworkX Graph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NetworkX Graph</a:t>
                </a:r>
              </a:p>
            </p:txBody>
          </p:sp>
        </p:grpSp>
        <p:grpSp>
          <p:nvGrpSpPr>
            <p:cNvPr id="191" name="Ορθογώνιο 9"/>
            <p:cNvGrpSpPr/>
            <p:nvPr/>
          </p:nvGrpSpPr>
          <p:grpSpPr>
            <a:xfrm>
              <a:off x="3931920" y="0"/>
              <a:ext cx="1605280" cy="510604"/>
              <a:chOff x="0" y="0"/>
              <a:chExt cx="1605279" cy="510602"/>
            </a:xfrm>
          </p:grpSpPr>
          <p:sp>
            <p:nvSpPr>
              <p:cNvPr id="189" name="Rectangle"/>
              <p:cNvSpPr/>
              <p:nvPr/>
            </p:nvSpPr>
            <p:spPr>
              <a:xfrm>
                <a:off x="-1" y="0"/>
                <a:ext cx="1605281" cy="51060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90" name="Feature Extraction"/>
              <p:cNvSpPr txBox="1"/>
              <p:nvPr/>
            </p:nvSpPr>
            <p:spPr>
              <a:xfrm>
                <a:off x="52069" y="114902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Feature Extraction</a:t>
                </a:r>
              </a:p>
            </p:txBody>
          </p:sp>
        </p:grpSp>
        <p:grpSp>
          <p:nvGrpSpPr>
            <p:cNvPr id="194" name="Ορθογώνιο 10"/>
            <p:cNvGrpSpPr/>
            <p:nvPr/>
          </p:nvGrpSpPr>
          <p:grpSpPr>
            <a:xfrm>
              <a:off x="5902961" y="13944"/>
              <a:ext cx="1605280" cy="510593"/>
              <a:chOff x="0" y="0"/>
              <a:chExt cx="1605279" cy="510591"/>
            </a:xfrm>
          </p:grpSpPr>
          <p:sp>
            <p:nvSpPr>
              <p:cNvPr id="192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93" name="Standardization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Standardization</a:t>
                </a:r>
              </a:p>
            </p:txBody>
          </p:sp>
        </p:grpSp>
        <p:sp>
          <p:nvSpPr>
            <p:cNvPr id="195" name="Ευθύγραμμο βέλος σύνδεσης 11"/>
            <p:cNvSpPr/>
            <p:nvPr/>
          </p:nvSpPr>
          <p:spPr>
            <a:xfrm>
              <a:off x="1653539" y="25850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6" name="Ευθύγραμμο βέλος σύνδεσης 12"/>
            <p:cNvSpPr/>
            <p:nvPr/>
          </p:nvSpPr>
          <p:spPr>
            <a:xfrm>
              <a:off x="3623309" y="269240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7" name="Ευθύγραμμο βέλος σύνδεσης 13"/>
            <p:cNvSpPr/>
            <p:nvPr/>
          </p:nvSpPr>
          <p:spPr>
            <a:xfrm>
              <a:off x="5589270" y="27997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TextBox 7"/>
          <p:cNvSpPr txBox="1"/>
          <p:nvPr/>
        </p:nvSpPr>
        <p:spPr>
          <a:xfrm>
            <a:off x="2185805" y="768485"/>
            <a:ext cx="488912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Node2Vec Feature Engineering</a:t>
            </a:r>
          </a:p>
        </p:txBody>
      </p:sp>
      <p:pic>
        <p:nvPicPr>
          <p:cNvPr id="20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8837" t="35630" r="8496" b="55036"/>
          <a:stretch>
            <a:fillRect/>
          </a:stretch>
        </p:blipFill>
        <p:spPr>
          <a:xfrm>
            <a:off x="1739038" y="3373537"/>
            <a:ext cx="5782656" cy="723445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TextBox 8"/>
          <p:cNvSpPr txBox="1"/>
          <p:nvPr/>
        </p:nvSpPr>
        <p:spPr>
          <a:xfrm>
            <a:off x="654048" y="2989224"/>
            <a:ext cx="2315728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Node2Vec Parameters:</a:t>
            </a:r>
          </a:p>
        </p:txBody>
      </p:sp>
      <p:sp>
        <p:nvSpPr>
          <p:cNvPr id="205" name="TextBox 9"/>
          <p:cNvSpPr txBox="1"/>
          <p:nvPr/>
        </p:nvSpPr>
        <p:spPr>
          <a:xfrm>
            <a:off x="4594805" y="4429885"/>
            <a:ext cx="3476047" cy="153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Advantages: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Automatic pattern discovery</a:t>
            </a:r>
            <a:r>
              <a:rPr i="0"/>
              <a:t>: </a:t>
            </a:r>
            <a:r>
              <a:rPr b="0" i="0"/>
              <a:t>Learns latest latent relationships vs manual engineering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Dense representation</a:t>
            </a:r>
            <a:r>
              <a:rPr i="0"/>
              <a:t>: </a:t>
            </a:r>
            <a:r>
              <a:rPr b="0" i="0"/>
              <a:t>Compact 64D vectors capture complex patterns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User behavior modeling</a:t>
            </a:r>
            <a:r>
              <a:rPr i="0"/>
              <a:t>: </a:t>
            </a:r>
            <a:r>
              <a:rPr b="0" i="0"/>
              <a:t>Random walks simulate browsing patterns</a:t>
            </a:r>
          </a:p>
        </p:txBody>
      </p:sp>
      <p:sp>
        <p:nvSpPr>
          <p:cNvPr id="206" name="TextBox 10"/>
          <p:cNvSpPr txBox="1"/>
          <p:nvPr/>
        </p:nvSpPr>
        <p:spPr>
          <a:xfrm>
            <a:off x="130719" y="4427780"/>
            <a:ext cx="4182202" cy="171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How Node2Vec Works: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Random walks</a:t>
            </a:r>
            <a:r>
              <a:rPr i="0"/>
              <a:t>: </a:t>
            </a:r>
            <a:r>
              <a:rPr b="0" i="0"/>
              <a:t>Simulate user browsing through co-viewing relationships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Word2Vec training</a:t>
            </a:r>
            <a:r>
              <a:rPr i="0"/>
              <a:t>: </a:t>
            </a:r>
            <a:r>
              <a:rPr b="0" i="0"/>
              <a:t>Treat walks as sentences, products as words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Embedding learning</a:t>
            </a:r>
            <a:r>
              <a:rPr i="0"/>
              <a:t>: </a:t>
            </a:r>
            <a:r>
              <a:rPr b="0" i="0"/>
              <a:t>64-dimensional vectors capture product relationships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Search bias</a:t>
            </a:r>
            <a:r>
              <a:rPr i="0"/>
              <a:t>: </a:t>
            </a:r>
            <a:r>
              <a:rPr b="0" i="0"/>
              <a:t>p=0,5, q=2,0 favors exploration over local clustering</a:t>
            </a:r>
          </a:p>
        </p:txBody>
      </p:sp>
      <p:grpSp>
        <p:nvGrpSpPr>
          <p:cNvPr id="222" name="Ομάδα 11"/>
          <p:cNvGrpSpPr/>
          <p:nvPr/>
        </p:nvGrpSpPr>
        <p:grpSpPr>
          <a:xfrm>
            <a:off x="608328" y="2015099"/>
            <a:ext cx="7508242" cy="531509"/>
            <a:chOff x="0" y="0"/>
            <a:chExt cx="7508240" cy="531507"/>
          </a:xfrm>
        </p:grpSpPr>
        <p:grpSp>
          <p:nvGrpSpPr>
            <p:cNvPr id="209" name="Ορθογώνιο 12"/>
            <p:cNvGrpSpPr/>
            <p:nvPr/>
          </p:nvGrpSpPr>
          <p:grpSpPr>
            <a:xfrm>
              <a:off x="0" y="6973"/>
              <a:ext cx="1605280" cy="524536"/>
              <a:chOff x="0" y="0"/>
              <a:chExt cx="1605279" cy="524534"/>
            </a:xfrm>
          </p:grpSpPr>
          <p:sp>
            <p:nvSpPr>
              <p:cNvPr id="207" name="Rectangle"/>
              <p:cNvSpPr/>
              <p:nvPr/>
            </p:nvSpPr>
            <p:spPr>
              <a:xfrm>
                <a:off x="-1" y="0"/>
                <a:ext cx="1605281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08" name="Random Walks"/>
              <p:cNvSpPr txBox="1"/>
              <p:nvPr/>
            </p:nvSpPr>
            <p:spPr>
              <a:xfrm>
                <a:off x="52069" y="121868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Random Walks</a:t>
                </a:r>
              </a:p>
            </p:txBody>
          </p:sp>
        </p:grpSp>
        <p:grpSp>
          <p:nvGrpSpPr>
            <p:cNvPr id="212" name="Ορθογώνιο 13"/>
            <p:cNvGrpSpPr/>
            <p:nvPr/>
          </p:nvGrpSpPr>
          <p:grpSpPr>
            <a:xfrm>
              <a:off x="1971040" y="6419"/>
              <a:ext cx="1605280" cy="510593"/>
              <a:chOff x="0" y="0"/>
              <a:chExt cx="1605279" cy="510591"/>
            </a:xfrm>
          </p:grpSpPr>
          <p:sp>
            <p:nvSpPr>
              <p:cNvPr id="210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11" name="Skip-gram Training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Skip-gram Training</a:t>
                </a:r>
              </a:p>
            </p:txBody>
          </p:sp>
        </p:grpSp>
        <p:grpSp>
          <p:nvGrpSpPr>
            <p:cNvPr id="215" name="Ορθογώνιο 14"/>
            <p:cNvGrpSpPr/>
            <p:nvPr/>
          </p:nvGrpSpPr>
          <p:grpSpPr>
            <a:xfrm>
              <a:off x="3931920" y="0"/>
              <a:ext cx="1605280" cy="510604"/>
              <a:chOff x="0" y="0"/>
              <a:chExt cx="1605279" cy="510602"/>
            </a:xfrm>
          </p:grpSpPr>
          <p:sp>
            <p:nvSpPr>
              <p:cNvPr id="213" name="Rectangle"/>
              <p:cNvSpPr/>
              <p:nvPr/>
            </p:nvSpPr>
            <p:spPr>
              <a:xfrm>
                <a:off x="-1" y="0"/>
                <a:ext cx="1605281" cy="51060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14" name="Node Embeddings"/>
              <p:cNvSpPr txBox="1"/>
              <p:nvPr/>
            </p:nvSpPr>
            <p:spPr>
              <a:xfrm>
                <a:off x="52069" y="114902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Node Embeddings</a:t>
                </a:r>
              </a:p>
            </p:txBody>
          </p:sp>
        </p:grpSp>
        <p:grpSp>
          <p:nvGrpSpPr>
            <p:cNvPr id="218" name="Ορθογώνιο 15"/>
            <p:cNvGrpSpPr/>
            <p:nvPr/>
          </p:nvGrpSpPr>
          <p:grpSpPr>
            <a:xfrm>
              <a:off x="5902961" y="13944"/>
              <a:ext cx="1605280" cy="510593"/>
              <a:chOff x="0" y="0"/>
              <a:chExt cx="1605279" cy="510591"/>
            </a:xfrm>
          </p:grpSpPr>
          <p:sp>
            <p:nvSpPr>
              <p:cNvPr id="216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17" name="64D Vectors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64D Vectors</a:t>
                </a:r>
              </a:p>
            </p:txBody>
          </p:sp>
        </p:grpSp>
        <p:sp>
          <p:nvSpPr>
            <p:cNvPr id="219" name="Ευθύγραμμο βέλος σύνδεσης 16"/>
            <p:cNvSpPr/>
            <p:nvPr/>
          </p:nvSpPr>
          <p:spPr>
            <a:xfrm>
              <a:off x="1653539" y="25850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0" name="Ευθύγραμμο βέλος σύνδεσης 17"/>
            <p:cNvSpPr/>
            <p:nvPr/>
          </p:nvSpPr>
          <p:spPr>
            <a:xfrm>
              <a:off x="3623309" y="269240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1" name="Ευθύγραμμο βέλος σύνδεσης 18"/>
            <p:cNvSpPr/>
            <p:nvPr/>
          </p:nvSpPr>
          <p:spPr>
            <a:xfrm>
              <a:off x="5589270" y="27997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extBox 7"/>
          <p:cNvSpPr txBox="1"/>
          <p:nvPr/>
        </p:nvSpPr>
        <p:spPr>
          <a:xfrm>
            <a:off x="2185805" y="768485"/>
            <a:ext cx="488912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Custom Graph Feature Engineering</a:t>
            </a:r>
          </a:p>
        </p:txBody>
      </p:sp>
      <p:pic>
        <p:nvPicPr>
          <p:cNvPr id="22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8404" t="26769" r="8104" b="44018"/>
          <a:stretch>
            <a:fillRect/>
          </a:stretch>
        </p:blipFill>
        <p:spPr>
          <a:xfrm>
            <a:off x="1840554" y="3703785"/>
            <a:ext cx="5462892" cy="2009054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Box 9"/>
          <p:cNvSpPr txBox="1"/>
          <p:nvPr/>
        </p:nvSpPr>
        <p:spPr>
          <a:xfrm>
            <a:off x="1057395" y="5712838"/>
            <a:ext cx="8750518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Additional Features: </a:t>
            </a: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Eigenvector centrality, Triangle count, Average neighbor degree, Logi(degree), Sqrt(degree)</a:t>
            </a:r>
          </a:p>
        </p:txBody>
      </p:sp>
      <p:sp>
        <p:nvSpPr>
          <p:cNvPr id="229" name="TextBox 10"/>
          <p:cNvSpPr txBox="1"/>
          <p:nvPr/>
        </p:nvSpPr>
        <p:spPr>
          <a:xfrm>
            <a:off x="1057396" y="2002838"/>
            <a:ext cx="7167124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latin typeface="Georgia"/>
                <a:ea typeface="Georgia"/>
                <a:cs typeface="Georgia"/>
                <a:sym typeface="Georgia"/>
              </a:defRPr>
            </a:pPr>
            <a:r>
              <a:t>Limitations:</a:t>
            </a:r>
          </a:p>
          <a:p>
            <a:pPr marL="285750" indent="-285750">
              <a:buSzPct val="100000"/>
              <a:buFont typeface="Arial"/>
              <a:buChar char="•"/>
              <a:defRPr b="1" i="1" sz="1400">
                <a:latin typeface="Georgia"/>
                <a:ea typeface="Georgia"/>
                <a:cs typeface="Georgia"/>
                <a:sym typeface="Georgia"/>
              </a:defRPr>
            </a:pPr>
            <a:r>
              <a:t>Computational cost</a:t>
            </a:r>
            <a:r>
              <a:rPr i="0"/>
              <a:t>: </a:t>
            </a:r>
            <a:r>
              <a:rPr b="0" i="0"/>
              <a:t>~35 minutes for feature extraction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400">
                <a:latin typeface="Georgia"/>
                <a:ea typeface="Georgia"/>
                <a:cs typeface="Georgia"/>
                <a:sym typeface="Georgia"/>
              </a:defRPr>
            </a:pPr>
            <a:r>
              <a:t>Manual engineering</a:t>
            </a:r>
            <a:r>
              <a:rPr i="0"/>
              <a:t>: </a:t>
            </a:r>
            <a:r>
              <a:rPr b="0" i="0"/>
              <a:t>Requires domain knowledge vs learned representations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400">
                <a:latin typeface="Georgia"/>
                <a:ea typeface="Georgia"/>
                <a:cs typeface="Georgia"/>
                <a:sym typeface="Georgia"/>
              </a:defRPr>
            </a:pPr>
            <a:r>
              <a:t>Performance gap</a:t>
            </a:r>
            <a:r>
              <a:rPr i="0"/>
              <a:t>: </a:t>
            </a:r>
            <a:r>
              <a:rPr b="0" i="0"/>
              <a:t>5x worse that Node2Vec (1,35 vs 0,28)</a:t>
            </a:r>
          </a:p>
        </p:txBody>
      </p:sp>
      <p:sp>
        <p:nvSpPr>
          <p:cNvPr id="230" name="TextBox 11"/>
          <p:cNvSpPr txBox="1"/>
          <p:nvPr/>
        </p:nvSpPr>
        <p:spPr>
          <a:xfrm>
            <a:off x="1057396" y="3365232"/>
            <a:ext cx="31242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10 Hand-crafted Features: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Graph Classification Results</a:t>
            </a:r>
          </a:p>
        </p:txBody>
      </p:sp>
      <p:pic>
        <p:nvPicPr>
          <p:cNvPr id="235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rcRect l="53244" t="16780" r="20753" b="54327"/>
          <a:stretch>
            <a:fillRect/>
          </a:stretch>
        </p:blipFill>
        <p:spPr>
          <a:xfrm>
            <a:off x="5311660" y="3622852"/>
            <a:ext cx="1678416" cy="14749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rcRect l="6209" t="16313" r="51086" b="51162"/>
          <a:stretch>
            <a:fillRect/>
          </a:stretch>
        </p:blipFill>
        <p:spPr>
          <a:xfrm>
            <a:off x="1317939" y="2272469"/>
            <a:ext cx="2461062" cy="2159310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Box 2"/>
          <p:cNvSpPr txBox="1"/>
          <p:nvPr/>
        </p:nvSpPr>
        <p:spPr>
          <a:xfrm>
            <a:off x="325164" y="1643052"/>
            <a:ext cx="3761363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Node2Vec Results (Better Performance):</a:t>
            </a:r>
          </a:p>
        </p:txBody>
      </p:sp>
      <p:sp>
        <p:nvSpPr>
          <p:cNvPr id="238" name="TextBox 6"/>
          <p:cNvSpPr txBox="1"/>
          <p:nvPr/>
        </p:nvSpPr>
        <p:spPr>
          <a:xfrm>
            <a:off x="325165" y="4673741"/>
            <a:ext cx="4259481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Key Findings: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Three models superior cost</a:t>
            </a:r>
            <a:r>
              <a:rPr i="0"/>
              <a:t>: </a:t>
            </a:r>
            <a:r>
              <a:rPr b="0" i="0"/>
              <a:t>Handle dense embeddings better than linear models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Calibration essential</a:t>
            </a:r>
            <a:r>
              <a:rPr i="0"/>
              <a:t>: </a:t>
            </a:r>
            <a:r>
              <a:rPr b="0" i="0"/>
              <a:t>Consistent improvement across all models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Node2Vec vs Custom</a:t>
            </a:r>
            <a:r>
              <a:rPr b="0" i="0"/>
              <a:t>: Learned embeddings dramatically outperform hand-crafted features</a:t>
            </a:r>
          </a:p>
        </p:txBody>
      </p:sp>
      <p:pic>
        <p:nvPicPr>
          <p:cNvPr id="239" name="Picture 18" descr="Picture 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44101" y="2272469"/>
            <a:ext cx="3737606" cy="1317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Price Feature Engineering</a:t>
            </a:r>
          </a:p>
        </p:txBody>
      </p:sp>
      <p:pic>
        <p:nvPicPr>
          <p:cNvPr id="24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10476" t="53612" r="13096" b="29508"/>
          <a:stretch>
            <a:fillRect/>
          </a:stretch>
        </p:blipFill>
        <p:spPr>
          <a:xfrm>
            <a:off x="873201" y="4935355"/>
            <a:ext cx="4642291" cy="1208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8297" t="21740" r="8251" b="48472"/>
          <a:stretch>
            <a:fillRect/>
          </a:stretch>
        </p:blipFill>
        <p:spPr>
          <a:xfrm>
            <a:off x="702669" y="2730100"/>
            <a:ext cx="4983358" cy="2097205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Box 8"/>
          <p:cNvSpPr txBox="1"/>
          <p:nvPr/>
        </p:nvSpPr>
        <p:spPr>
          <a:xfrm>
            <a:off x="5816600" y="2719364"/>
            <a:ext cx="2585722" cy="249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Engineering Strategy:</a:t>
            </a:r>
          </a:p>
          <a:p>
            <a:pPr>
              <a:defRPr sz="16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Multiple transformations: </a:t>
            </a:r>
            <a:r>
              <a:rPr b="0" i="0"/>
              <a:t>Capture non-linear price-category relationships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Text Integration: </a:t>
            </a:r>
            <a:r>
              <a:rPr b="0" i="0"/>
              <a:t>Price-description interactions reveal product positioning</a:t>
            </a:r>
            <a:endParaRPr b="0" i="0"/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Selective standardization</a:t>
            </a:r>
            <a:r>
              <a:rPr b="0" i="0"/>
              <a:t>: Scale continuous features, preserve binary indicators</a:t>
            </a:r>
          </a:p>
        </p:txBody>
      </p:sp>
      <p:grpSp>
        <p:nvGrpSpPr>
          <p:cNvPr id="262" name="Ομάδα 9"/>
          <p:cNvGrpSpPr/>
          <p:nvPr/>
        </p:nvGrpSpPr>
        <p:grpSpPr>
          <a:xfrm>
            <a:off x="817878" y="1834302"/>
            <a:ext cx="7508242" cy="531509"/>
            <a:chOff x="0" y="0"/>
            <a:chExt cx="7508240" cy="531507"/>
          </a:xfrm>
        </p:grpSpPr>
        <p:grpSp>
          <p:nvGrpSpPr>
            <p:cNvPr id="249" name="Ορθογώνιο 10"/>
            <p:cNvGrpSpPr/>
            <p:nvPr/>
          </p:nvGrpSpPr>
          <p:grpSpPr>
            <a:xfrm>
              <a:off x="0" y="6973"/>
              <a:ext cx="1605280" cy="524536"/>
              <a:chOff x="0" y="0"/>
              <a:chExt cx="1605279" cy="524534"/>
            </a:xfrm>
          </p:grpSpPr>
          <p:sp>
            <p:nvSpPr>
              <p:cNvPr id="247" name="Rectangle"/>
              <p:cNvSpPr/>
              <p:nvPr/>
            </p:nvSpPr>
            <p:spPr>
              <a:xfrm>
                <a:off x="-1" y="0"/>
                <a:ext cx="1605281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48" name="Price Data"/>
              <p:cNvSpPr txBox="1"/>
              <p:nvPr/>
            </p:nvSpPr>
            <p:spPr>
              <a:xfrm>
                <a:off x="52069" y="121868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Price Data</a:t>
                </a:r>
              </a:p>
            </p:txBody>
          </p:sp>
        </p:grpSp>
        <p:grpSp>
          <p:nvGrpSpPr>
            <p:cNvPr id="252" name="Ορθογώνιο 11"/>
            <p:cNvGrpSpPr/>
            <p:nvPr/>
          </p:nvGrpSpPr>
          <p:grpSpPr>
            <a:xfrm>
              <a:off x="1971040" y="6419"/>
              <a:ext cx="1605280" cy="510593"/>
              <a:chOff x="0" y="0"/>
              <a:chExt cx="1605279" cy="510591"/>
            </a:xfrm>
          </p:grpSpPr>
          <p:sp>
            <p:nvSpPr>
              <p:cNvPr id="250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51" name="Missing Value Imputation"/>
              <p:cNvSpPr txBox="1"/>
              <p:nvPr/>
            </p:nvSpPr>
            <p:spPr>
              <a:xfrm>
                <a:off x="52069" y="596"/>
                <a:ext cx="1501141" cy="509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Missing Value Imputation</a:t>
                </a:r>
              </a:p>
            </p:txBody>
          </p:sp>
        </p:grpSp>
        <p:grpSp>
          <p:nvGrpSpPr>
            <p:cNvPr id="255" name="Ορθογώνιο 12"/>
            <p:cNvGrpSpPr/>
            <p:nvPr/>
          </p:nvGrpSpPr>
          <p:grpSpPr>
            <a:xfrm>
              <a:off x="3931920" y="0"/>
              <a:ext cx="1605280" cy="510604"/>
              <a:chOff x="0" y="0"/>
              <a:chExt cx="1605279" cy="510602"/>
            </a:xfrm>
          </p:grpSpPr>
          <p:sp>
            <p:nvSpPr>
              <p:cNvPr id="253" name="Rectangle"/>
              <p:cNvSpPr/>
              <p:nvPr/>
            </p:nvSpPr>
            <p:spPr>
              <a:xfrm>
                <a:off x="-1" y="0"/>
                <a:ext cx="1605281" cy="51060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54" name="Feature Engineering"/>
              <p:cNvSpPr txBox="1"/>
              <p:nvPr/>
            </p:nvSpPr>
            <p:spPr>
              <a:xfrm>
                <a:off x="52069" y="602"/>
                <a:ext cx="1501141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Feature Engineering</a:t>
                </a:r>
              </a:p>
            </p:txBody>
          </p:sp>
        </p:grpSp>
        <p:grpSp>
          <p:nvGrpSpPr>
            <p:cNvPr id="258" name="Ορθογώνιο 13"/>
            <p:cNvGrpSpPr/>
            <p:nvPr/>
          </p:nvGrpSpPr>
          <p:grpSpPr>
            <a:xfrm>
              <a:off x="5902961" y="13944"/>
              <a:ext cx="1605280" cy="510593"/>
              <a:chOff x="0" y="0"/>
              <a:chExt cx="1605279" cy="510591"/>
            </a:xfrm>
          </p:grpSpPr>
          <p:sp>
            <p:nvSpPr>
              <p:cNvPr id="256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57" name="Standardization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Standardization</a:t>
                </a:r>
              </a:p>
            </p:txBody>
          </p:sp>
        </p:grpSp>
        <p:sp>
          <p:nvSpPr>
            <p:cNvPr id="259" name="Ευθύγραμμο βέλος σύνδεσης 14"/>
            <p:cNvSpPr/>
            <p:nvPr/>
          </p:nvSpPr>
          <p:spPr>
            <a:xfrm>
              <a:off x="1653539" y="25850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0" name="Ευθύγραμμο βέλος σύνδεσης 15"/>
            <p:cNvSpPr/>
            <p:nvPr/>
          </p:nvSpPr>
          <p:spPr>
            <a:xfrm>
              <a:off x="3623309" y="269240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1" name="Ευθύγραμμο βέλος σύνδεσης 16"/>
            <p:cNvSpPr/>
            <p:nvPr/>
          </p:nvSpPr>
          <p:spPr>
            <a:xfrm>
              <a:off x="5589270" y="27997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6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Price Classifications Results</a:t>
            </a:r>
          </a:p>
        </p:txBody>
      </p:sp>
      <p:grpSp>
        <p:nvGrpSpPr>
          <p:cNvPr id="271" name="Ομάδα 1"/>
          <p:cNvGrpSpPr/>
          <p:nvPr/>
        </p:nvGrpSpPr>
        <p:grpSpPr>
          <a:xfrm>
            <a:off x="2274530" y="1701454"/>
            <a:ext cx="4708957" cy="4715444"/>
            <a:chOff x="0" y="0"/>
            <a:chExt cx="4708955" cy="4715442"/>
          </a:xfrm>
        </p:grpSpPr>
        <p:pic>
          <p:nvPicPr>
            <p:cNvPr id="267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7910" t="50827" r="65403" b="31282"/>
            <a:stretch>
              <a:fillRect/>
            </a:stretch>
          </p:blipFill>
          <p:spPr>
            <a:xfrm>
              <a:off x="0" y="3202958"/>
              <a:ext cx="1865560" cy="1512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8" name="Picture 6" descr="Picture 6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2437" t="50326" r="20992" b="32369"/>
            <a:stretch>
              <a:fillRect/>
            </a:stretch>
          </p:blipFill>
          <p:spPr>
            <a:xfrm>
              <a:off x="0" y="1533920"/>
              <a:ext cx="1865561" cy="14693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9" name="Picture 8" descr="Picture 8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2695" t="15443" r="17055" b="66667"/>
            <a:stretch>
              <a:fillRect/>
            </a:stretch>
          </p:blipFill>
          <p:spPr>
            <a:xfrm>
              <a:off x="0" y="-1"/>
              <a:ext cx="1865561" cy="1334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0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7745" t="15651" r="53802" b="55130"/>
            <a:stretch>
              <a:fillRect/>
            </a:stretch>
          </p:blipFill>
          <p:spPr>
            <a:xfrm>
              <a:off x="2123233" y="-1"/>
              <a:ext cx="2585723" cy="23761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72" name="TextBox 2"/>
          <p:cNvSpPr txBox="1"/>
          <p:nvPr/>
        </p:nvSpPr>
        <p:spPr>
          <a:xfrm>
            <a:off x="4370852" y="4314407"/>
            <a:ext cx="3250174" cy="216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Performance Analysis:</a:t>
            </a: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Limited standalone power:</a:t>
            </a:r>
            <a:r>
              <a:rPr b="0" i="0"/>
              <a:t> ~2.2 log-loss indicates weak discrimination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Tree models superior: </a:t>
            </a:r>
            <a:r>
              <a:rPr b="0" i="0"/>
              <a:t>Better handle non-linear price-category relationships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Ensemble value: </a:t>
            </a:r>
            <a:r>
              <a:rPr b="0" i="0"/>
              <a:t>Provides complementary signal despite weak individual performance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Missing data impact: </a:t>
            </a:r>
            <a:r>
              <a:rPr b="0" i="0"/>
              <a:t>28% missing prices limits discriminative power</a:t>
            </a:r>
            <a:endParaRPr b="0" i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TextBox 7"/>
          <p:cNvSpPr txBox="1"/>
          <p:nvPr/>
        </p:nvSpPr>
        <p:spPr>
          <a:xfrm>
            <a:off x="2185805" y="768485"/>
            <a:ext cx="488912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Meta-Learning Ensemble Strategy</a:t>
            </a:r>
          </a:p>
        </p:txBody>
      </p:sp>
      <p:grpSp>
        <p:nvGrpSpPr>
          <p:cNvPr id="281" name="Ομάδα 10"/>
          <p:cNvGrpSpPr/>
          <p:nvPr/>
        </p:nvGrpSpPr>
        <p:grpSpPr>
          <a:xfrm>
            <a:off x="4033170" y="3829267"/>
            <a:ext cx="4541849" cy="2596711"/>
            <a:chOff x="0" y="0"/>
            <a:chExt cx="4541847" cy="2596709"/>
          </a:xfrm>
        </p:grpSpPr>
        <p:pic>
          <p:nvPicPr>
            <p:cNvPr id="277" name="Picture 8" descr="Picture 8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9251" t="44088" r="11563" b="38208"/>
            <a:stretch>
              <a:fillRect/>
            </a:stretch>
          </p:blipFill>
          <p:spPr>
            <a:xfrm>
              <a:off x="-1" y="312094"/>
              <a:ext cx="4541849" cy="12141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8" name="Picture 8" descr="Picture 8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17222" t="64564" r="17147" b="25795"/>
            <a:stretch>
              <a:fillRect/>
            </a:stretch>
          </p:blipFill>
          <p:spPr>
            <a:xfrm>
              <a:off x="388784" y="1935524"/>
              <a:ext cx="3764280" cy="6611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9" name="TextBox 5"/>
            <p:cNvSpPr txBox="1"/>
            <p:nvPr/>
          </p:nvSpPr>
          <p:spPr>
            <a:xfrm>
              <a:off x="45720" y="0"/>
              <a:ext cx="3124201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b="1" sz="14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Why Ensemble Works:</a:t>
              </a:r>
            </a:p>
          </p:txBody>
        </p:sp>
        <p:sp>
          <p:nvSpPr>
            <p:cNvPr id="280" name="Ευθύγραμμο βέλος σύνδεσης 8"/>
            <p:cNvSpPr/>
            <p:nvPr/>
          </p:nvSpPr>
          <p:spPr>
            <a:xfrm>
              <a:off x="2270923" y="1567616"/>
              <a:ext cx="1" cy="34246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82" name="TextBox 9"/>
          <p:cNvSpPr txBox="1"/>
          <p:nvPr/>
        </p:nvSpPr>
        <p:spPr>
          <a:xfrm>
            <a:off x="737276" y="3829267"/>
            <a:ext cx="3250175" cy="23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Key Advantages:</a:t>
            </a:r>
          </a:p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Error compensation:</a:t>
            </a:r>
            <a:r>
              <a:rPr b="0" i="0"/>
              <a:t> When one model fails, others provide corrections</a:t>
            </a:r>
            <a:endParaRPr b="0" i="0"/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Complementary information: </a:t>
            </a:r>
            <a:r>
              <a:rPr b="0" i="0"/>
              <a:t>Each modality captures different product aspects</a:t>
            </a:r>
            <a:endParaRPr b="0" i="0"/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Confidence modeling: </a:t>
            </a:r>
            <a:r>
              <a:rPr b="0" i="0"/>
              <a:t>Meta-model learns when to trust each base model</a:t>
            </a:r>
            <a:endParaRPr b="0" i="0"/>
          </a:p>
        </p:txBody>
      </p:sp>
      <p:grpSp>
        <p:nvGrpSpPr>
          <p:cNvPr id="285" name="Ορθογώνιο 12"/>
          <p:cNvGrpSpPr/>
          <p:nvPr/>
        </p:nvGrpSpPr>
        <p:grpSpPr>
          <a:xfrm>
            <a:off x="817878" y="1841275"/>
            <a:ext cx="1605281" cy="524536"/>
            <a:chOff x="0" y="0"/>
            <a:chExt cx="1605280" cy="524534"/>
          </a:xfrm>
        </p:grpSpPr>
        <p:sp>
          <p:nvSpPr>
            <p:cNvPr id="283" name="Rectangle"/>
            <p:cNvSpPr/>
            <p:nvPr/>
          </p:nvSpPr>
          <p:spPr>
            <a:xfrm>
              <a:off x="-1" y="0"/>
              <a:ext cx="1605282" cy="524535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84" name="Best Text Model"/>
            <p:cNvSpPr txBox="1"/>
            <p:nvPr/>
          </p:nvSpPr>
          <p:spPr>
            <a:xfrm>
              <a:off x="52069" y="121868"/>
              <a:ext cx="1501142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Best Text Model</a:t>
              </a:r>
            </a:p>
          </p:txBody>
        </p:sp>
      </p:grpSp>
      <p:grpSp>
        <p:nvGrpSpPr>
          <p:cNvPr id="288" name="Ορθογώνιο 13"/>
          <p:cNvGrpSpPr/>
          <p:nvPr/>
        </p:nvGrpSpPr>
        <p:grpSpPr>
          <a:xfrm>
            <a:off x="2770952" y="2381582"/>
            <a:ext cx="1605281" cy="510592"/>
            <a:chOff x="0" y="0"/>
            <a:chExt cx="1605280" cy="510591"/>
          </a:xfrm>
        </p:grpSpPr>
        <p:sp>
          <p:nvSpPr>
            <p:cNvPr id="286" name="Rectangle"/>
            <p:cNvSpPr/>
            <p:nvPr/>
          </p:nvSpPr>
          <p:spPr>
            <a:xfrm>
              <a:off x="-1" y="-1"/>
              <a:ext cx="1605282" cy="510593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87" name="Missing Value Imputation"/>
            <p:cNvSpPr txBox="1"/>
            <p:nvPr/>
          </p:nvSpPr>
          <p:spPr>
            <a:xfrm>
              <a:off x="52069" y="596"/>
              <a:ext cx="1501142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Missing Value Imputation</a:t>
              </a:r>
            </a:p>
          </p:txBody>
        </p:sp>
      </p:grpSp>
      <p:grpSp>
        <p:nvGrpSpPr>
          <p:cNvPr id="291" name="Ορθογώνιο 14"/>
          <p:cNvGrpSpPr/>
          <p:nvPr/>
        </p:nvGrpSpPr>
        <p:grpSpPr>
          <a:xfrm>
            <a:off x="4731832" y="2375162"/>
            <a:ext cx="1605281" cy="510604"/>
            <a:chOff x="0" y="0"/>
            <a:chExt cx="1605280" cy="510602"/>
          </a:xfrm>
        </p:grpSpPr>
        <p:sp>
          <p:nvSpPr>
            <p:cNvPr id="289" name="Rectangle"/>
            <p:cNvSpPr/>
            <p:nvPr/>
          </p:nvSpPr>
          <p:spPr>
            <a:xfrm>
              <a:off x="-1" y="0"/>
              <a:ext cx="1605282" cy="510603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90" name="Feature Engineering"/>
            <p:cNvSpPr txBox="1"/>
            <p:nvPr/>
          </p:nvSpPr>
          <p:spPr>
            <a:xfrm>
              <a:off x="52069" y="602"/>
              <a:ext cx="1501142" cy="50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Feature Engineering</a:t>
              </a:r>
            </a:p>
          </p:txBody>
        </p:sp>
      </p:grpSp>
      <p:grpSp>
        <p:nvGrpSpPr>
          <p:cNvPr id="294" name="Ορθογώνιο 15"/>
          <p:cNvGrpSpPr/>
          <p:nvPr/>
        </p:nvGrpSpPr>
        <p:grpSpPr>
          <a:xfrm>
            <a:off x="6702873" y="2389108"/>
            <a:ext cx="1605281" cy="510592"/>
            <a:chOff x="0" y="0"/>
            <a:chExt cx="1605280" cy="510591"/>
          </a:xfrm>
        </p:grpSpPr>
        <p:sp>
          <p:nvSpPr>
            <p:cNvPr id="292" name="Rectangle"/>
            <p:cNvSpPr/>
            <p:nvPr/>
          </p:nvSpPr>
          <p:spPr>
            <a:xfrm>
              <a:off x="-1" y="-1"/>
              <a:ext cx="1605282" cy="510593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93" name="Standardization"/>
            <p:cNvSpPr txBox="1"/>
            <p:nvPr/>
          </p:nvSpPr>
          <p:spPr>
            <a:xfrm>
              <a:off x="52069" y="114896"/>
              <a:ext cx="1501142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Standardization</a:t>
              </a:r>
            </a:p>
          </p:txBody>
        </p:sp>
      </p:grpSp>
      <p:sp>
        <p:nvSpPr>
          <p:cNvPr id="295" name="Ευθύγραμμο βέλος σύνδεσης 16"/>
          <p:cNvSpPr/>
          <p:nvPr/>
        </p:nvSpPr>
        <p:spPr>
          <a:xfrm>
            <a:off x="2453451" y="2633669"/>
            <a:ext cx="261623" cy="10736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Ευθύγραμμο βέλος σύνδεσης 17"/>
          <p:cNvSpPr/>
          <p:nvPr/>
        </p:nvSpPr>
        <p:spPr>
          <a:xfrm>
            <a:off x="4423221" y="2644404"/>
            <a:ext cx="261622" cy="10736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" name="Ευθύγραμμο βέλος σύνδεσης 18"/>
          <p:cNvSpPr/>
          <p:nvPr/>
        </p:nvSpPr>
        <p:spPr>
          <a:xfrm>
            <a:off x="6389182" y="2655139"/>
            <a:ext cx="261622" cy="10736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302" name="Ομάδα 19"/>
          <p:cNvGrpSpPr/>
          <p:nvPr/>
        </p:nvGrpSpPr>
        <p:grpSpPr>
          <a:xfrm>
            <a:off x="817878" y="2388202"/>
            <a:ext cx="1915162" cy="524536"/>
            <a:chOff x="0" y="0"/>
            <a:chExt cx="1915161" cy="524534"/>
          </a:xfrm>
        </p:grpSpPr>
        <p:grpSp>
          <p:nvGrpSpPr>
            <p:cNvPr id="300" name="Ορθογώνιο 20"/>
            <p:cNvGrpSpPr/>
            <p:nvPr/>
          </p:nvGrpSpPr>
          <p:grpSpPr>
            <a:xfrm>
              <a:off x="-1" y="0"/>
              <a:ext cx="1605282" cy="524535"/>
              <a:chOff x="0" y="0"/>
              <a:chExt cx="1605280" cy="524534"/>
            </a:xfrm>
          </p:grpSpPr>
          <p:sp>
            <p:nvSpPr>
              <p:cNvPr id="298" name="Rectangle"/>
              <p:cNvSpPr/>
              <p:nvPr/>
            </p:nvSpPr>
            <p:spPr>
              <a:xfrm>
                <a:off x="-1" y="0"/>
                <a:ext cx="1605282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299" name="Best Graph Model"/>
              <p:cNvSpPr txBox="1"/>
              <p:nvPr/>
            </p:nvSpPr>
            <p:spPr>
              <a:xfrm>
                <a:off x="52069" y="121868"/>
                <a:ext cx="1501142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Best Graph Model</a:t>
                </a:r>
              </a:p>
            </p:txBody>
          </p:sp>
        </p:grpSp>
        <p:sp>
          <p:nvSpPr>
            <p:cNvPr id="301" name="Ευθύγραμμο βέλος σύνδεσης 24"/>
            <p:cNvSpPr/>
            <p:nvPr/>
          </p:nvSpPr>
          <p:spPr>
            <a:xfrm>
              <a:off x="1653539" y="251533"/>
              <a:ext cx="261622" cy="1073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05" name="Ορθογώνιο 49"/>
          <p:cNvGrpSpPr/>
          <p:nvPr/>
        </p:nvGrpSpPr>
        <p:grpSpPr>
          <a:xfrm>
            <a:off x="817878" y="2943499"/>
            <a:ext cx="1605281" cy="524536"/>
            <a:chOff x="0" y="0"/>
            <a:chExt cx="1605280" cy="524534"/>
          </a:xfrm>
        </p:grpSpPr>
        <p:sp>
          <p:nvSpPr>
            <p:cNvPr id="303" name="Rectangle"/>
            <p:cNvSpPr/>
            <p:nvPr/>
          </p:nvSpPr>
          <p:spPr>
            <a:xfrm>
              <a:off x="-1" y="0"/>
              <a:ext cx="1605282" cy="524535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304" name="Best Price Model"/>
            <p:cNvSpPr txBox="1"/>
            <p:nvPr/>
          </p:nvSpPr>
          <p:spPr>
            <a:xfrm>
              <a:off x="52069" y="121868"/>
              <a:ext cx="1501142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Best Price Model</a:t>
              </a:r>
            </a:p>
          </p:txBody>
        </p:sp>
      </p:grpSp>
      <p:sp>
        <p:nvSpPr>
          <p:cNvPr id="306" name="Ευθύγραμμο βέλος σύνδεσης 50"/>
          <p:cNvSpPr/>
          <p:nvPr/>
        </p:nvSpPr>
        <p:spPr>
          <a:xfrm flipV="1">
            <a:off x="2453451" y="2665873"/>
            <a:ext cx="261622" cy="575517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Ευθύγραμμο βέλος σύνδεσης 54"/>
          <p:cNvSpPr/>
          <p:nvPr/>
        </p:nvSpPr>
        <p:spPr>
          <a:xfrm>
            <a:off x="2438211" y="2132272"/>
            <a:ext cx="276862" cy="495331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Stacking Methodology</a:t>
            </a:r>
          </a:p>
        </p:txBody>
      </p:sp>
      <p:grpSp>
        <p:nvGrpSpPr>
          <p:cNvPr id="314" name="Ομάδα 23"/>
          <p:cNvGrpSpPr/>
          <p:nvPr/>
        </p:nvGrpSpPr>
        <p:grpSpPr>
          <a:xfrm>
            <a:off x="326847" y="3682548"/>
            <a:ext cx="8437775" cy="1021405"/>
            <a:chOff x="0" y="0"/>
            <a:chExt cx="8437773" cy="1021404"/>
          </a:xfrm>
        </p:grpSpPr>
        <p:pic>
          <p:nvPicPr>
            <p:cNvPr id="312" name="Picture 6" descr="Picture 6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10031" t="54378" r="11378" b="29877"/>
            <a:stretch>
              <a:fillRect/>
            </a:stretch>
          </p:blipFill>
          <p:spPr>
            <a:xfrm>
              <a:off x="4192620" y="0"/>
              <a:ext cx="4245154" cy="10177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3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10886" t="18586" r="15955" b="66520"/>
            <a:stretch>
              <a:fillRect/>
            </a:stretch>
          </p:blipFill>
          <p:spPr>
            <a:xfrm>
              <a:off x="-1" y="0"/>
              <a:ext cx="4192623" cy="10214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5" name="TextBox 1"/>
          <p:cNvSpPr txBox="1"/>
          <p:nvPr/>
        </p:nvSpPr>
        <p:spPr>
          <a:xfrm>
            <a:off x="288910" y="3374771"/>
            <a:ext cx="217510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Training Process:</a:t>
            </a:r>
          </a:p>
        </p:txBody>
      </p:sp>
      <p:grpSp>
        <p:nvGrpSpPr>
          <p:cNvPr id="331" name="Ομάδα 5"/>
          <p:cNvGrpSpPr/>
          <p:nvPr/>
        </p:nvGrpSpPr>
        <p:grpSpPr>
          <a:xfrm>
            <a:off x="817878" y="1834302"/>
            <a:ext cx="7508242" cy="531509"/>
            <a:chOff x="0" y="0"/>
            <a:chExt cx="7508240" cy="531507"/>
          </a:xfrm>
        </p:grpSpPr>
        <p:grpSp>
          <p:nvGrpSpPr>
            <p:cNvPr id="318" name="Ορθογώνιο 6"/>
            <p:cNvGrpSpPr/>
            <p:nvPr/>
          </p:nvGrpSpPr>
          <p:grpSpPr>
            <a:xfrm>
              <a:off x="0" y="6973"/>
              <a:ext cx="1605280" cy="524536"/>
              <a:chOff x="0" y="0"/>
              <a:chExt cx="1605279" cy="524534"/>
            </a:xfrm>
          </p:grpSpPr>
          <p:sp>
            <p:nvSpPr>
              <p:cNvPr id="316" name="Rectangle"/>
              <p:cNvSpPr/>
              <p:nvPr/>
            </p:nvSpPr>
            <p:spPr>
              <a:xfrm>
                <a:off x="-1" y="0"/>
                <a:ext cx="1605281" cy="524535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317" name="Training Data"/>
              <p:cNvSpPr txBox="1"/>
              <p:nvPr/>
            </p:nvSpPr>
            <p:spPr>
              <a:xfrm>
                <a:off x="52069" y="121868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Training Data</a:t>
                </a:r>
              </a:p>
            </p:txBody>
          </p:sp>
        </p:grpSp>
        <p:grpSp>
          <p:nvGrpSpPr>
            <p:cNvPr id="321" name="Ορθογώνιο 8"/>
            <p:cNvGrpSpPr/>
            <p:nvPr/>
          </p:nvGrpSpPr>
          <p:grpSpPr>
            <a:xfrm>
              <a:off x="1971040" y="6419"/>
              <a:ext cx="1605280" cy="510593"/>
              <a:chOff x="0" y="0"/>
              <a:chExt cx="1605279" cy="510591"/>
            </a:xfrm>
          </p:grpSpPr>
          <p:sp>
            <p:nvSpPr>
              <p:cNvPr id="319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320" name="80/20 Split"/>
              <p:cNvSpPr txBox="1"/>
              <p:nvPr/>
            </p:nvSpPr>
            <p:spPr>
              <a:xfrm>
                <a:off x="52069" y="114896"/>
                <a:ext cx="1501141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80/20 Split</a:t>
                </a:r>
              </a:p>
            </p:txBody>
          </p:sp>
        </p:grpSp>
        <p:grpSp>
          <p:nvGrpSpPr>
            <p:cNvPr id="324" name="Ορθογώνιο 9"/>
            <p:cNvGrpSpPr/>
            <p:nvPr/>
          </p:nvGrpSpPr>
          <p:grpSpPr>
            <a:xfrm>
              <a:off x="3931920" y="0"/>
              <a:ext cx="1605280" cy="510604"/>
              <a:chOff x="0" y="0"/>
              <a:chExt cx="1605279" cy="510602"/>
            </a:xfrm>
          </p:grpSpPr>
          <p:sp>
            <p:nvSpPr>
              <p:cNvPr id="322" name="Rectangle"/>
              <p:cNvSpPr/>
              <p:nvPr/>
            </p:nvSpPr>
            <p:spPr>
              <a:xfrm>
                <a:off x="-1" y="0"/>
                <a:ext cx="1605281" cy="51060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323" name="Base Training"/>
              <p:cNvSpPr txBox="1"/>
              <p:nvPr/>
            </p:nvSpPr>
            <p:spPr>
              <a:xfrm>
                <a:off x="52069" y="114902"/>
                <a:ext cx="1501141" cy="280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Base Training</a:t>
                </a:r>
              </a:p>
            </p:txBody>
          </p:sp>
        </p:grpSp>
        <p:grpSp>
          <p:nvGrpSpPr>
            <p:cNvPr id="327" name="Ορθογώνιο 10"/>
            <p:cNvGrpSpPr/>
            <p:nvPr/>
          </p:nvGrpSpPr>
          <p:grpSpPr>
            <a:xfrm>
              <a:off x="5902961" y="13944"/>
              <a:ext cx="1605280" cy="510593"/>
              <a:chOff x="0" y="0"/>
              <a:chExt cx="1605279" cy="510591"/>
            </a:xfrm>
          </p:grpSpPr>
          <p:sp>
            <p:nvSpPr>
              <p:cNvPr id="325" name="Rectangle"/>
              <p:cNvSpPr/>
              <p:nvPr/>
            </p:nvSpPr>
            <p:spPr>
              <a:xfrm>
                <a:off x="-1" y="-1"/>
                <a:ext cx="1605281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326" name="Meta-Features(48D)"/>
              <p:cNvSpPr txBox="1"/>
              <p:nvPr/>
            </p:nvSpPr>
            <p:spPr>
              <a:xfrm>
                <a:off x="52069" y="596"/>
                <a:ext cx="1501141" cy="509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Meta-Features(48D)</a:t>
                </a:r>
              </a:p>
            </p:txBody>
          </p:sp>
        </p:grpSp>
        <p:sp>
          <p:nvSpPr>
            <p:cNvPr id="328" name="Ευθύγραμμο βέλος σύνδεσης 11"/>
            <p:cNvSpPr/>
            <p:nvPr/>
          </p:nvSpPr>
          <p:spPr>
            <a:xfrm>
              <a:off x="1653539" y="25850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" name="Ευθύγραμμο βέλος σύνδεσης 12"/>
            <p:cNvSpPr/>
            <p:nvPr/>
          </p:nvSpPr>
          <p:spPr>
            <a:xfrm>
              <a:off x="3623309" y="269240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0" name="Ευθύγραμμο βέλος σύνδεσης 13"/>
            <p:cNvSpPr/>
            <p:nvPr/>
          </p:nvSpPr>
          <p:spPr>
            <a:xfrm>
              <a:off x="5589270" y="279975"/>
              <a:ext cx="261621" cy="1073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36" name="Ομάδα 14"/>
          <p:cNvGrpSpPr/>
          <p:nvPr/>
        </p:nvGrpSpPr>
        <p:grpSpPr>
          <a:xfrm>
            <a:off x="3481702" y="2460799"/>
            <a:ext cx="1918973" cy="510593"/>
            <a:chOff x="0" y="0"/>
            <a:chExt cx="1918971" cy="510591"/>
          </a:xfrm>
        </p:grpSpPr>
        <p:grpSp>
          <p:nvGrpSpPr>
            <p:cNvPr id="334" name="Ορθογώνιο 18"/>
            <p:cNvGrpSpPr/>
            <p:nvPr/>
          </p:nvGrpSpPr>
          <p:grpSpPr>
            <a:xfrm>
              <a:off x="313691" y="-1"/>
              <a:ext cx="1605281" cy="510593"/>
              <a:chOff x="0" y="0"/>
              <a:chExt cx="1605280" cy="510591"/>
            </a:xfrm>
          </p:grpSpPr>
          <p:sp>
            <p:nvSpPr>
              <p:cNvPr id="332" name="Rectangle"/>
              <p:cNvSpPr/>
              <p:nvPr/>
            </p:nvSpPr>
            <p:spPr>
              <a:xfrm>
                <a:off x="-1" y="-1"/>
                <a:ext cx="1605282" cy="510593"/>
              </a:xfrm>
              <a:prstGeom prst="rect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333" name="Meta-Model"/>
              <p:cNvSpPr txBox="1"/>
              <p:nvPr/>
            </p:nvSpPr>
            <p:spPr>
              <a:xfrm>
                <a:off x="52069" y="114896"/>
                <a:ext cx="1501142" cy="280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sx="100000" sy="100000" kx="0" ky="0" algn="b" rotWithShape="0" blurRad="38100" dist="23000" dir="5400000">
                  <a:srgbClr val="000000">
                    <a:alpha val="35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/>
                </a:lvl1pPr>
              </a:lstStyle>
              <a:p>
                <a:pPr/>
                <a:r>
                  <a:t>Meta-Model</a:t>
                </a:r>
              </a:p>
            </p:txBody>
          </p:sp>
        </p:grpSp>
        <p:sp>
          <p:nvSpPr>
            <p:cNvPr id="335" name="Ευθύγραμμο βέλος σύνδεσης 21"/>
            <p:cNvSpPr/>
            <p:nvPr/>
          </p:nvSpPr>
          <p:spPr>
            <a:xfrm>
              <a:off x="0" y="266031"/>
              <a:ext cx="261622" cy="1073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37" name="TextBox 22"/>
          <p:cNvSpPr txBox="1"/>
          <p:nvPr/>
        </p:nvSpPr>
        <p:spPr>
          <a:xfrm>
            <a:off x="288910" y="5014247"/>
            <a:ext cx="5930465" cy="138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Why this approach works:</a:t>
            </a:r>
          </a:p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Learned combination:</a:t>
            </a:r>
            <a:r>
              <a:rPr b="0" i="0"/>
              <a:t> Meta-model automatically discovers optimal weighting</a:t>
            </a:r>
            <a:endParaRPr b="0" i="0"/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Proper validation: </a:t>
            </a:r>
            <a:r>
              <a:rPr b="0" i="0"/>
              <a:t>Meta-features generated on unseen data prevent overfitting</a:t>
            </a:r>
            <a:endParaRPr b="0" i="0"/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Rich representation: </a:t>
            </a:r>
            <a:r>
              <a:rPr b="0" i="0"/>
              <a:t>48D Space captures model confidence and interactions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341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Meta-Model Results</a:t>
            </a:r>
          </a:p>
        </p:txBody>
      </p:sp>
      <p:sp>
        <p:nvSpPr>
          <p:cNvPr id="342" name="TextBox 1"/>
          <p:cNvSpPr txBox="1"/>
          <p:nvPr/>
        </p:nvSpPr>
        <p:spPr>
          <a:xfrm>
            <a:off x="2254296" y="1778350"/>
            <a:ext cx="287340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Meta-Model Comparison:</a:t>
            </a:r>
          </a:p>
        </p:txBody>
      </p:sp>
      <p:pic>
        <p:nvPicPr>
          <p:cNvPr id="34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08577" y="2086128"/>
            <a:ext cx="4439631" cy="260443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50336" y="5113739"/>
            <a:ext cx="4424507" cy="1172495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TextBox 11"/>
          <p:cNvSpPr txBox="1"/>
          <p:nvPr/>
        </p:nvSpPr>
        <p:spPr>
          <a:xfrm>
            <a:off x="1024517" y="4805962"/>
            <a:ext cx="399858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Optimized XGBoost Configuration:</a:t>
            </a:r>
          </a:p>
        </p:txBody>
      </p:sp>
      <p:sp>
        <p:nvSpPr>
          <p:cNvPr id="346" name="TextBox 12"/>
          <p:cNvSpPr txBox="1"/>
          <p:nvPr/>
        </p:nvSpPr>
        <p:spPr>
          <a:xfrm>
            <a:off x="5520563" y="4823417"/>
            <a:ext cx="2735581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  <a:r>
              <a:t>Why XGBoost Excels:</a:t>
            </a:r>
          </a:p>
          <a:p>
            <a:pPr>
              <a:defRPr b="1" sz="14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Complex interactions: </a:t>
            </a:r>
            <a:r>
              <a:rPr b="0" i="0"/>
              <a:t>Learns when to trust each base model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Sequential learning: </a:t>
            </a:r>
            <a:r>
              <a:rPr b="0" i="0"/>
              <a:t>Iteratively improves combination strategy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>
                <a:latin typeface="Georgia"/>
                <a:ea typeface="Georgia"/>
                <a:cs typeface="Georgia"/>
                <a:sym typeface="Georgia"/>
              </a:defRPr>
            </a:pPr>
            <a:r>
              <a:t>Regulation: </a:t>
            </a:r>
            <a:r>
              <a:rPr b="0" i="0"/>
              <a:t>Prevents overfitting 48D meta-feature page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4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5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extBox 7"/>
          <p:cNvSpPr txBox="1"/>
          <p:nvPr/>
        </p:nvSpPr>
        <p:spPr>
          <a:xfrm>
            <a:off x="2185805" y="768485"/>
            <a:ext cx="48891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Final Performance Summary</a:t>
            </a:r>
          </a:p>
        </p:txBody>
      </p:sp>
      <p:sp>
        <p:nvSpPr>
          <p:cNvPr id="351" name="TextBox 1"/>
          <p:cNvSpPr txBox="1"/>
          <p:nvPr/>
        </p:nvSpPr>
        <p:spPr>
          <a:xfrm>
            <a:off x="181906" y="1760539"/>
            <a:ext cx="423737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Individual vs Ensemble Performance:</a:t>
            </a:r>
          </a:p>
        </p:txBody>
      </p:sp>
      <p:pic>
        <p:nvPicPr>
          <p:cNvPr id="352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8277" t="48783" r="8957" b="29131"/>
          <a:stretch>
            <a:fillRect/>
          </a:stretch>
        </p:blipFill>
        <p:spPr>
          <a:xfrm>
            <a:off x="412330" y="4471858"/>
            <a:ext cx="4368800" cy="15146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rcRect l="7192" t="16741" r="7855" b="59715"/>
          <a:stretch>
            <a:fillRect/>
          </a:stretch>
        </p:blipFill>
        <p:spPr>
          <a:xfrm>
            <a:off x="412330" y="2190800"/>
            <a:ext cx="5996565" cy="2159199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extBox 2"/>
          <p:cNvSpPr txBox="1"/>
          <p:nvPr/>
        </p:nvSpPr>
        <p:spPr>
          <a:xfrm>
            <a:off x="4915386" y="4410928"/>
            <a:ext cx="3634254" cy="2000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400"/>
            </a:pPr>
            <a:r>
              <a:t>Key Achievements:</a:t>
            </a:r>
          </a:p>
          <a:p>
            <a:pPr marL="285750" indent="-285750">
              <a:buSzPct val="100000"/>
              <a:buFont typeface="Arial"/>
              <a:buChar char="•"/>
              <a:defRPr b="1" i="1" sz="1200"/>
            </a:pPr>
            <a:r>
              <a:t>Significant improvement: </a:t>
            </a:r>
            <a:r>
              <a:rPr b="0" i="0"/>
              <a:t>27,5% better than best individual model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/>
            </a:pPr>
            <a:r>
              <a:t>Kaggle performance: </a:t>
            </a:r>
            <a:r>
              <a:rPr b="0" i="0"/>
              <a:t>0.2006 final score demonstrates real-world effectiveness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/>
            </a:pPr>
            <a:r>
              <a:t>Multi-modal success: </a:t>
            </a:r>
            <a:r>
              <a:rPr b="0" i="0"/>
              <a:t>Each modality contributes unique discriminative information</a:t>
            </a:r>
            <a:endParaRPr b="0" i="0"/>
          </a:p>
          <a:p>
            <a:pPr marL="285750" indent="-285750">
              <a:buSzPct val="100000"/>
              <a:buFont typeface="Arial"/>
              <a:buChar char="•"/>
              <a:defRPr b="1" i="1" sz="1200"/>
            </a:pPr>
            <a:r>
              <a:t>Validation gap: </a:t>
            </a:r>
            <a:r>
              <a:rPr b="0" i="0"/>
              <a:t>Difference between validation (0,24) and Kaggle (0,20) suggests optimization potential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