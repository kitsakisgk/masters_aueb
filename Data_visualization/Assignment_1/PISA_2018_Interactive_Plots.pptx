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orgos Kitsakis" userId="50896460c341ec0f" providerId="LiveId" clId="{A3A61F30-F5F3-4889-9A31-4914510C6DFE}"/>
    <pc:docChg chg="modSld">
      <pc:chgData name="Giorgos Kitsakis" userId="50896460c341ec0f" providerId="LiveId" clId="{A3A61F30-F5F3-4889-9A31-4914510C6DFE}" dt="2025-11-11T10:29:03.992" v="5" actId="1076"/>
      <pc:docMkLst>
        <pc:docMk/>
      </pc:docMkLst>
      <pc:sldChg chg="modSp mod">
        <pc:chgData name="Giorgos Kitsakis" userId="50896460c341ec0f" providerId="LiveId" clId="{A3A61F30-F5F3-4889-9A31-4914510C6DFE}" dt="2025-11-11T10:28:17.905" v="0" actId="20577"/>
        <pc:sldMkLst>
          <pc:docMk/>
          <pc:sldMk cId="0" sldId="257"/>
        </pc:sldMkLst>
        <pc:spChg chg="mod">
          <ac:chgData name="Giorgos Kitsakis" userId="50896460c341ec0f" providerId="LiveId" clId="{A3A61F30-F5F3-4889-9A31-4914510C6DFE}" dt="2025-11-11T10:28:17.905" v="0" actId="20577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Giorgos Kitsakis" userId="50896460c341ec0f" providerId="LiveId" clId="{A3A61F30-F5F3-4889-9A31-4914510C6DFE}" dt="2025-11-11T10:28:24.069" v="1" actId="20577"/>
        <pc:sldMkLst>
          <pc:docMk/>
          <pc:sldMk cId="0" sldId="258"/>
        </pc:sldMkLst>
        <pc:spChg chg="mod">
          <ac:chgData name="Giorgos Kitsakis" userId="50896460c341ec0f" providerId="LiveId" clId="{A3A61F30-F5F3-4889-9A31-4914510C6DFE}" dt="2025-11-11T10:28:24.069" v="1" actId="20577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Giorgos Kitsakis" userId="50896460c341ec0f" providerId="LiveId" clId="{A3A61F30-F5F3-4889-9A31-4914510C6DFE}" dt="2025-11-11T10:28:44.875" v="2" actId="20577"/>
        <pc:sldMkLst>
          <pc:docMk/>
          <pc:sldMk cId="0" sldId="259"/>
        </pc:sldMkLst>
        <pc:spChg chg="mod">
          <ac:chgData name="Giorgos Kitsakis" userId="50896460c341ec0f" providerId="LiveId" clId="{A3A61F30-F5F3-4889-9A31-4914510C6DFE}" dt="2025-11-11T10:28:44.875" v="2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Giorgos Kitsakis" userId="50896460c341ec0f" providerId="LiveId" clId="{A3A61F30-F5F3-4889-9A31-4914510C6DFE}" dt="2025-11-11T10:28:51.382" v="3" actId="20577"/>
        <pc:sldMkLst>
          <pc:docMk/>
          <pc:sldMk cId="0" sldId="260"/>
        </pc:sldMkLst>
        <pc:spChg chg="mod">
          <ac:chgData name="Giorgos Kitsakis" userId="50896460c341ec0f" providerId="LiveId" clId="{A3A61F30-F5F3-4889-9A31-4914510C6DFE}" dt="2025-11-11T10:28:51.382" v="3" actId="20577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Giorgos Kitsakis" userId="50896460c341ec0f" providerId="LiveId" clId="{A3A61F30-F5F3-4889-9A31-4914510C6DFE}" dt="2025-11-11T10:28:55.912" v="4" actId="20577"/>
        <pc:sldMkLst>
          <pc:docMk/>
          <pc:sldMk cId="0" sldId="261"/>
        </pc:sldMkLst>
        <pc:spChg chg="mod">
          <ac:chgData name="Giorgos Kitsakis" userId="50896460c341ec0f" providerId="LiveId" clId="{A3A61F30-F5F3-4889-9A31-4914510C6DFE}" dt="2025-11-11T10:28:55.912" v="4" actId="20577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Giorgos Kitsakis" userId="50896460c341ec0f" providerId="LiveId" clId="{A3A61F30-F5F3-4889-9A31-4914510C6DFE}" dt="2025-11-11T10:29:03.992" v="5" actId="1076"/>
        <pc:sldMkLst>
          <pc:docMk/>
          <pc:sldMk cId="0" sldId="262"/>
        </pc:sldMkLst>
        <pc:spChg chg="mod">
          <ac:chgData name="Giorgos Kitsakis" userId="50896460c341ec0f" providerId="LiveId" clId="{A3A61F30-F5F3-4889-9A31-4914510C6DFE}" dt="2025-11-11T10:29:03.992" v="5" actId="1076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8C00"/>
                </a:solidFill>
              </a:defRPr>
            </a:pPr>
            <a:r>
              <a:t>PISA 2018: Interactive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Dynamic Exploration with Plotly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8C00"/>
                </a:solidFill>
              </a:defRPr>
            </a:pPr>
            <a:r>
              <a:t>Interactive Plot 1: Country Performance Explorer</a:t>
            </a:r>
          </a:p>
        </p:txBody>
      </p:sp>
      <p:pic>
        <p:nvPicPr>
          <p:cNvPr id="3" name="Picture 2" descr="Interactive_1_all_countr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4427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18159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rPr dirty="0"/>
              <a:t>Dropdown menu allows filtering: All Countries (80), Top 10, Top 20, or Greece vs Top 5. Compare Math (blue), </a:t>
            </a:r>
            <a:endParaRPr lang="en-US" dirty="0"/>
          </a:p>
          <a:p>
            <a:pPr>
              <a:defRPr sz="1400">
                <a:solidFill>
                  <a:srgbClr val="3C3C3C"/>
                </a:solidFill>
              </a:defRPr>
            </a:pPr>
            <a:r>
              <a:rPr dirty="0"/>
              <a:t>Reading (red), and Science (green) scores interactively.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8C00"/>
                </a:solidFill>
              </a:defRPr>
            </a:pPr>
            <a:r>
              <a:t>Interactive Plot 1: Filtered View Example</a:t>
            </a:r>
          </a:p>
        </p:txBody>
      </p:sp>
      <p:pic>
        <p:nvPicPr>
          <p:cNvPr id="3" name="Picture 2" descr="Interactive_1_all_countries_2_subje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3726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79771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rPr dirty="0"/>
              <a:t>Example showing filtered country groups. Interactive hover displays exact scores. Toggle subjects on/off by </a:t>
            </a:r>
            <a:endParaRPr lang="en-US" dirty="0"/>
          </a:p>
          <a:p>
            <a:pPr>
              <a:defRPr sz="1400">
                <a:solidFill>
                  <a:srgbClr val="3C3C3C"/>
                </a:solidFill>
              </a:defRPr>
            </a:pPr>
            <a:r>
              <a:rPr dirty="0"/>
              <a:t>clicking legend items.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8C00"/>
                </a:solidFill>
              </a:defRPr>
            </a:pPr>
            <a:r>
              <a:t>Interactive Plot 2: Gender Gap - Mathematics</a:t>
            </a:r>
          </a:p>
        </p:txBody>
      </p:sp>
      <p:pic>
        <p:nvPicPr>
          <p:cNvPr id="3" name="Picture 2" descr="Interactive_2_Mathemati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3219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34177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rPr dirty="0"/>
              <a:t>Bubble scatter plot showing relationship between country performance and gender gaps. Greece highlighted as </a:t>
            </a:r>
            <a:endParaRPr lang="en-US" dirty="0"/>
          </a:p>
          <a:p>
            <a:pPr>
              <a:defRPr sz="1400">
                <a:solidFill>
                  <a:srgbClr val="3C3C3C"/>
                </a:solidFill>
              </a:defRPr>
            </a:pPr>
            <a:r>
              <a:rPr dirty="0"/>
              <a:t>gold star. Bubble size = number of students tested.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8C00"/>
                </a:solidFill>
              </a:defRPr>
            </a:pPr>
            <a:r>
              <a:t>Interactive Plot 2: Gender Gap - Reading</a:t>
            </a:r>
          </a:p>
        </p:txBody>
      </p:sp>
      <p:pic>
        <p:nvPicPr>
          <p:cNvPr id="3" name="Picture 2" descr="Interactive_2_Rea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3372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762349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rPr dirty="0"/>
              <a:t>Reading shows largest gender gaps globally. Girls consistently outperform boys across most countries. </a:t>
            </a:r>
            <a:endParaRPr lang="en-US" dirty="0"/>
          </a:p>
          <a:p>
            <a:pPr>
              <a:defRPr sz="1400">
                <a:solidFill>
                  <a:srgbClr val="3C3C3C"/>
                </a:solidFill>
              </a:defRPr>
            </a:pPr>
            <a:r>
              <a:rPr dirty="0"/>
              <a:t>Dropdown allows switching between subjects dynamically.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8C00"/>
                </a:solidFill>
              </a:defRPr>
            </a:pPr>
            <a:r>
              <a:t>Interactive Plot 2: Gender Gap - Science</a:t>
            </a:r>
          </a:p>
        </p:txBody>
      </p:sp>
      <p:pic>
        <p:nvPicPr>
          <p:cNvPr id="3" name="Picture 2" descr="Iteractive_2_Sci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217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1426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C3C3C"/>
                </a:solidFill>
              </a:defRPr>
            </a:pPr>
            <a:r>
              <a:rPr dirty="0"/>
              <a:t>Science shows mixed patterns - some countries favor boys, others favor girls. Zero line (black) indicates equal </a:t>
            </a:r>
            <a:endParaRPr lang="en-US" dirty="0"/>
          </a:p>
          <a:p>
            <a:pPr>
              <a:defRPr sz="1400">
                <a:solidFill>
                  <a:srgbClr val="3C3C3C"/>
                </a:solidFill>
              </a:defRPr>
            </a:pPr>
            <a:r>
              <a:rPr dirty="0"/>
              <a:t>performance. Above = boys ahead, below = girls ahead.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8C00"/>
                </a:solidFill>
              </a:defRPr>
            </a:pPr>
            <a:r>
              <a:t>Interactive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3C3C3C"/>
                </a:solidFill>
              </a:defRPr>
            </a:pPr>
            <a:r>
              <a:rPr dirty="0"/>
              <a:t>Plot 1: Country Performance Explorer</a:t>
            </a:r>
          </a:p>
          <a:p>
            <a:pPr>
              <a:spcAft>
                <a:spcPts val="400"/>
              </a:spcAft>
              <a:defRPr sz="1500">
                <a:solidFill>
                  <a:srgbClr val="3C3C3C"/>
                </a:solidFill>
              </a:defRPr>
            </a:pPr>
            <a:r>
              <a:rPr dirty="0"/>
              <a:t>   - Dropdown filters: All Countries / Top 10 / Top 20 / Greece vs Top 5</a:t>
            </a:r>
          </a:p>
          <a:p>
            <a:pPr>
              <a:spcAft>
                <a:spcPts val="400"/>
              </a:spcAft>
              <a:defRPr sz="1500">
                <a:solidFill>
                  <a:srgbClr val="3C3C3C"/>
                </a:solidFill>
              </a:defRPr>
            </a:pPr>
            <a:r>
              <a:rPr dirty="0"/>
              <a:t>   - Compare all three subjects simultaneously</a:t>
            </a:r>
          </a:p>
          <a:p>
            <a:pPr>
              <a:spcAft>
                <a:spcPts val="400"/>
              </a:spcAft>
              <a:defRPr sz="1500">
                <a:solidFill>
                  <a:srgbClr val="3C3C3C"/>
                </a:solidFill>
              </a:defRPr>
            </a:pPr>
            <a:r>
              <a:rPr dirty="0"/>
              <a:t>   - Hover for exact scores</a:t>
            </a:r>
          </a:p>
          <a:p>
            <a:pPr>
              <a:spcAft>
                <a:spcPts val="400"/>
              </a:spcAft>
              <a:defRPr sz="1500">
                <a:solidFill>
                  <a:srgbClr val="3C3C3C"/>
                </a:solidFill>
              </a:defRPr>
            </a:pPr>
            <a:r>
              <a:rPr dirty="0"/>
              <a:t>   - Toggle subjects on/off via legend</a:t>
            </a:r>
          </a:p>
          <a:p>
            <a:pPr>
              <a:spcAft>
                <a:spcPts val="400"/>
              </a:spcAft>
              <a:defRPr sz="1500">
                <a:solidFill>
                  <a:srgbClr val="3C3C3C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3C3C3C"/>
                </a:solidFill>
              </a:defRPr>
            </a:pPr>
            <a:r>
              <a:rPr dirty="0"/>
              <a:t>Plot 2: Gender Gap Scatter Plot</a:t>
            </a:r>
          </a:p>
          <a:p>
            <a:pPr>
              <a:spcAft>
                <a:spcPts val="400"/>
              </a:spcAft>
              <a:defRPr sz="1500">
                <a:solidFill>
                  <a:srgbClr val="3C3C3C"/>
                </a:solidFill>
              </a:defRPr>
            </a:pPr>
            <a:r>
              <a:rPr dirty="0"/>
              <a:t>   - Subject selector: Switch between Math / Reading / Science</a:t>
            </a:r>
          </a:p>
          <a:p>
            <a:pPr>
              <a:spcAft>
                <a:spcPts val="400"/>
              </a:spcAft>
              <a:defRPr sz="1500">
                <a:solidFill>
                  <a:srgbClr val="3C3C3C"/>
                </a:solidFill>
              </a:defRPr>
            </a:pPr>
            <a:r>
              <a:rPr dirty="0"/>
              <a:t>   - Bubble size represents sample size (number of students)</a:t>
            </a:r>
          </a:p>
          <a:p>
            <a:pPr>
              <a:spcAft>
                <a:spcPts val="400"/>
              </a:spcAft>
              <a:defRPr sz="1500">
                <a:solidFill>
                  <a:srgbClr val="3C3C3C"/>
                </a:solidFill>
              </a:defRPr>
            </a:pPr>
            <a:r>
              <a:rPr dirty="0"/>
              <a:t>   - Greece always highlighted as gold star</a:t>
            </a:r>
          </a:p>
          <a:p>
            <a:pPr>
              <a:spcAft>
                <a:spcPts val="400"/>
              </a:spcAft>
              <a:defRPr sz="1500">
                <a:solidFill>
                  <a:srgbClr val="3C3C3C"/>
                </a:solidFill>
              </a:defRPr>
            </a:pPr>
            <a:r>
              <a:rPr dirty="0"/>
              <a:t>   - Key countries labeled automatically</a:t>
            </a:r>
          </a:p>
          <a:p>
            <a:pPr>
              <a:spcAft>
                <a:spcPts val="400"/>
              </a:spcAft>
              <a:defRPr sz="1500">
                <a:solidFill>
                  <a:srgbClr val="3C3C3C"/>
                </a:solidFill>
              </a:defRPr>
            </a:pPr>
            <a:r>
              <a:rPr dirty="0"/>
              <a:t>   - Interactive hover shows country details</a:t>
            </a:r>
          </a:p>
          <a:p>
            <a:pPr>
              <a:spcAft>
                <a:spcPts val="400"/>
              </a:spcAft>
              <a:defRPr sz="1500">
                <a:solidFill>
                  <a:srgbClr val="3C3C3C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500" b="1">
                <a:solidFill>
                  <a:srgbClr val="FF8C00"/>
                </a:solidFill>
              </a:defRPr>
            </a:pPr>
            <a:r>
              <a:rPr dirty="0"/>
              <a:t>Benefits of Interactive Visualizations:</a:t>
            </a:r>
          </a:p>
          <a:p>
            <a:pPr>
              <a:spcAft>
                <a:spcPts val="400"/>
              </a:spcAft>
              <a:defRPr sz="1500">
                <a:solidFill>
                  <a:srgbClr val="3C3C3C"/>
                </a:solidFill>
              </a:defRPr>
            </a:pPr>
            <a:r>
              <a:rPr dirty="0"/>
              <a:t>   - Explore data dynamically without creating multiple static plots</a:t>
            </a:r>
          </a:p>
          <a:p>
            <a:pPr>
              <a:spcAft>
                <a:spcPts val="400"/>
              </a:spcAft>
              <a:defRPr sz="1500">
                <a:solidFill>
                  <a:srgbClr val="3C3C3C"/>
                </a:solidFill>
              </a:defRPr>
            </a:pPr>
            <a:r>
              <a:rPr dirty="0"/>
              <a:t>   - Compare countries and subjects on-demand</a:t>
            </a:r>
          </a:p>
          <a:p>
            <a:pPr>
              <a:spcAft>
                <a:spcPts val="400"/>
              </a:spcAft>
              <a:defRPr sz="1500">
                <a:solidFill>
                  <a:srgbClr val="3C3C3C"/>
                </a:solidFill>
              </a:defRPr>
            </a:pPr>
            <a:r>
              <a:rPr dirty="0"/>
              <a:t>   - Identify patterns and outliers interactively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318</Words>
  <Application>Microsoft Office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Giorgos Kitsakis</cp:lastModifiedBy>
  <cp:revision>1</cp:revision>
  <dcterms:created xsi:type="dcterms:W3CDTF">2013-01-27T09:14:16Z</dcterms:created>
  <dcterms:modified xsi:type="dcterms:W3CDTF">2025-11-11T10:29:05Z</dcterms:modified>
  <cp:category/>
</cp:coreProperties>
</file>