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2" r:id="rId5"/>
    <p:sldId id="263" r:id="rId6"/>
    <p:sldId id="264" r:id="rId7"/>
    <p:sldId id="265" r:id="rId8"/>
    <p:sldId id="259" r:id="rId9"/>
    <p:sldId id="266" r:id="rId10"/>
    <p:sldId id="267" r:id="rId11"/>
    <p:sldId id="268"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149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orgos Kitsakis" userId="50896460c341ec0f" providerId="LiveId" clId="{32EC01BB-C7ED-4EC9-B5C5-6F6C21B7844A}"/>
    <pc:docChg chg="undo custSel addSld delSld modSld sldOrd">
      <pc:chgData name="Giorgos Kitsakis" userId="50896460c341ec0f" providerId="LiveId" clId="{32EC01BB-C7ED-4EC9-B5C5-6F6C21B7844A}" dt="2025-11-07T12:44:19.759" v="393" actId="113"/>
      <pc:docMkLst>
        <pc:docMk/>
      </pc:docMkLst>
      <pc:sldChg chg="modSp mod">
        <pc:chgData name="Giorgos Kitsakis" userId="50896460c341ec0f" providerId="LiveId" clId="{32EC01BB-C7ED-4EC9-B5C5-6F6C21B7844A}" dt="2025-11-07T12:04:57.535" v="46" actId="1076"/>
        <pc:sldMkLst>
          <pc:docMk/>
          <pc:sldMk cId="0" sldId="256"/>
        </pc:sldMkLst>
        <pc:spChg chg="mod">
          <ac:chgData name="Giorgos Kitsakis" userId="50896460c341ec0f" providerId="LiveId" clId="{32EC01BB-C7ED-4EC9-B5C5-6F6C21B7844A}" dt="2025-11-07T12:04:53.824" v="45" actId="1076"/>
          <ac:spMkLst>
            <pc:docMk/>
            <pc:sldMk cId="0" sldId="256"/>
            <ac:spMk id="2" creationId="{00000000-0000-0000-0000-000000000000}"/>
          </ac:spMkLst>
        </pc:spChg>
        <pc:spChg chg="mod">
          <ac:chgData name="Giorgos Kitsakis" userId="50896460c341ec0f" providerId="LiveId" clId="{32EC01BB-C7ED-4EC9-B5C5-6F6C21B7844A}" dt="2025-11-07T12:04:57.535" v="46" actId="1076"/>
          <ac:spMkLst>
            <pc:docMk/>
            <pc:sldMk cId="0" sldId="256"/>
            <ac:spMk id="3" creationId="{00000000-0000-0000-0000-000000000000}"/>
          </ac:spMkLst>
        </pc:spChg>
      </pc:sldChg>
      <pc:sldChg chg="modSp mod">
        <pc:chgData name="Giorgos Kitsakis" userId="50896460c341ec0f" providerId="LiveId" clId="{32EC01BB-C7ED-4EC9-B5C5-6F6C21B7844A}" dt="2025-11-05T18:37:35.501" v="32" actId="15"/>
        <pc:sldMkLst>
          <pc:docMk/>
          <pc:sldMk cId="0" sldId="257"/>
        </pc:sldMkLst>
        <pc:spChg chg="mod">
          <ac:chgData name="Giorgos Kitsakis" userId="50896460c341ec0f" providerId="LiveId" clId="{32EC01BB-C7ED-4EC9-B5C5-6F6C21B7844A}" dt="2025-11-05T18:35:38.191" v="8" actId="1076"/>
          <ac:spMkLst>
            <pc:docMk/>
            <pc:sldMk cId="0" sldId="257"/>
            <ac:spMk id="2" creationId="{00000000-0000-0000-0000-000000000000}"/>
          </ac:spMkLst>
        </pc:spChg>
        <pc:spChg chg="mod">
          <ac:chgData name="Giorgos Kitsakis" userId="50896460c341ec0f" providerId="LiveId" clId="{32EC01BB-C7ED-4EC9-B5C5-6F6C21B7844A}" dt="2025-11-05T18:37:35.501" v="32" actId="15"/>
          <ac:spMkLst>
            <pc:docMk/>
            <pc:sldMk cId="0" sldId="257"/>
            <ac:spMk id="3" creationId="{00000000-0000-0000-0000-000000000000}"/>
          </ac:spMkLst>
        </pc:spChg>
      </pc:sldChg>
      <pc:sldChg chg="modSp mod">
        <pc:chgData name="Giorgos Kitsakis" userId="50896460c341ec0f" providerId="LiveId" clId="{32EC01BB-C7ED-4EC9-B5C5-6F6C21B7844A}" dt="2025-11-07T12:06:09.625" v="61" actId="14100"/>
        <pc:sldMkLst>
          <pc:docMk/>
          <pc:sldMk cId="0" sldId="258"/>
        </pc:sldMkLst>
        <pc:spChg chg="mod">
          <ac:chgData name="Giorgos Kitsakis" userId="50896460c341ec0f" providerId="LiveId" clId="{32EC01BB-C7ED-4EC9-B5C5-6F6C21B7844A}" dt="2025-11-05T18:36:24.071" v="18" actId="1076"/>
          <ac:spMkLst>
            <pc:docMk/>
            <pc:sldMk cId="0" sldId="258"/>
            <ac:spMk id="2" creationId="{00000000-0000-0000-0000-000000000000}"/>
          </ac:spMkLst>
        </pc:spChg>
        <pc:spChg chg="mod">
          <ac:chgData name="Giorgos Kitsakis" userId="50896460c341ec0f" providerId="LiveId" clId="{32EC01BB-C7ED-4EC9-B5C5-6F6C21B7844A}" dt="2025-11-07T12:06:09.625" v="61" actId="14100"/>
          <ac:spMkLst>
            <pc:docMk/>
            <pc:sldMk cId="0" sldId="258"/>
            <ac:spMk id="3" creationId="{00000000-0000-0000-0000-000000000000}"/>
          </ac:spMkLst>
        </pc:spChg>
      </pc:sldChg>
      <pc:sldChg chg="modSp mod">
        <pc:chgData name="Giorgos Kitsakis" userId="50896460c341ec0f" providerId="LiveId" clId="{32EC01BB-C7ED-4EC9-B5C5-6F6C21B7844A}" dt="2025-11-07T12:37:00.501" v="309" actId="20577"/>
        <pc:sldMkLst>
          <pc:docMk/>
          <pc:sldMk cId="0" sldId="259"/>
        </pc:sldMkLst>
        <pc:spChg chg="mod">
          <ac:chgData name="Giorgos Kitsakis" userId="50896460c341ec0f" providerId="LiveId" clId="{32EC01BB-C7ED-4EC9-B5C5-6F6C21B7844A}" dt="2025-11-07T12:34:00.940" v="216" actId="2711"/>
          <ac:spMkLst>
            <pc:docMk/>
            <pc:sldMk cId="0" sldId="259"/>
            <ac:spMk id="2" creationId="{00000000-0000-0000-0000-000000000000}"/>
          </ac:spMkLst>
        </pc:spChg>
        <pc:spChg chg="mod">
          <ac:chgData name="Giorgos Kitsakis" userId="50896460c341ec0f" providerId="LiveId" clId="{32EC01BB-C7ED-4EC9-B5C5-6F6C21B7844A}" dt="2025-11-07T12:37:00.501" v="309" actId="20577"/>
          <ac:spMkLst>
            <pc:docMk/>
            <pc:sldMk cId="0" sldId="259"/>
            <ac:spMk id="3" creationId="{00000000-0000-0000-0000-000000000000}"/>
          </ac:spMkLst>
        </pc:spChg>
      </pc:sldChg>
      <pc:sldChg chg="delSp modSp del mod">
        <pc:chgData name="Giorgos Kitsakis" userId="50896460c341ec0f" providerId="LiveId" clId="{32EC01BB-C7ED-4EC9-B5C5-6F6C21B7844A}" dt="2025-11-07T12:37:20.380" v="313" actId="2696"/>
        <pc:sldMkLst>
          <pc:docMk/>
          <pc:sldMk cId="0" sldId="260"/>
        </pc:sldMkLst>
        <pc:spChg chg="del mod">
          <ac:chgData name="Giorgos Kitsakis" userId="50896460c341ec0f" providerId="LiveId" clId="{32EC01BB-C7ED-4EC9-B5C5-6F6C21B7844A}" dt="2025-11-07T12:05:21.801" v="50" actId="478"/>
          <ac:spMkLst>
            <pc:docMk/>
            <pc:sldMk cId="0" sldId="260"/>
            <ac:spMk id="2" creationId="{00000000-0000-0000-0000-000000000000}"/>
          </ac:spMkLst>
        </pc:spChg>
        <pc:spChg chg="del">
          <ac:chgData name="Giorgos Kitsakis" userId="50896460c341ec0f" providerId="LiveId" clId="{32EC01BB-C7ED-4EC9-B5C5-6F6C21B7844A}" dt="2025-11-07T12:05:10.041" v="47" actId="478"/>
          <ac:spMkLst>
            <pc:docMk/>
            <pc:sldMk cId="0" sldId="260"/>
            <ac:spMk id="3" creationId="{00000000-0000-0000-0000-000000000000}"/>
          </ac:spMkLst>
        </pc:spChg>
      </pc:sldChg>
      <pc:sldChg chg="modSp mod">
        <pc:chgData name="Giorgos Kitsakis" userId="50896460c341ec0f" providerId="LiveId" clId="{32EC01BB-C7ED-4EC9-B5C5-6F6C21B7844A}" dt="2025-11-07T12:44:19.759" v="393" actId="113"/>
        <pc:sldMkLst>
          <pc:docMk/>
          <pc:sldMk cId="0" sldId="261"/>
        </pc:sldMkLst>
        <pc:spChg chg="mod">
          <ac:chgData name="Giorgos Kitsakis" userId="50896460c341ec0f" providerId="LiveId" clId="{32EC01BB-C7ED-4EC9-B5C5-6F6C21B7844A}" dt="2025-11-07T12:05:54.663" v="59" actId="1076"/>
          <ac:spMkLst>
            <pc:docMk/>
            <pc:sldMk cId="0" sldId="261"/>
            <ac:spMk id="2" creationId="{00000000-0000-0000-0000-000000000000}"/>
          </ac:spMkLst>
        </pc:spChg>
        <pc:spChg chg="mod">
          <ac:chgData name="Giorgos Kitsakis" userId="50896460c341ec0f" providerId="LiveId" clId="{32EC01BB-C7ED-4EC9-B5C5-6F6C21B7844A}" dt="2025-11-07T12:44:19.759" v="393" actId="113"/>
          <ac:spMkLst>
            <pc:docMk/>
            <pc:sldMk cId="0" sldId="261"/>
            <ac:spMk id="3" creationId="{00000000-0000-0000-0000-000000000000}"/>
          </ac:spMkLst>
        </pc:spChg>
      </pc:sldChg>
      <pc:sldChg chg="addSp modSp new mod">
        <pc:chgData name="Giorgos Kitsakis" userId="50896460c341ec0f" providerId="LiveId" clId="{32EC01BB-C7ED-4EC9-B5C5-6F6C21B7844A}" dt="2025-11-07T12:29:48.797" v="177" actId="2711"/>
        <pc:sldMkLst>
          <pc:docMk/>
          <pc:sldMk cId="3816690071" sldId="262"/>
        </pc:sldMkLst>
        <pc:spChg chg="add mod">
          <ac:chgData name="Giorgos Kitsakis" userId="50896460c341ec0f" providerId="LiveId" clId="{32EC01BB-C7ED-4EC9-B5C5-6F6C21B7844A}" dt="2025-11-07T12:16:29.048" v="113" actId="20577"/>
          <ac:spMkLst>
            <pc:docMk/>
            <pc:sldMk cId="3816690071" sldId="262"/>
            <ac:spMk id="2" creationId="{84A94E59-FF95-45AB-8FFE-17E36B2C6FEB}"/>
          </ac:spMkLst>
        </pc:spChg>
        <pc:spChg chg="add mod">
          <ac:chgData name="Giorgos Kitsakis" userId="50896460c341ec0f" providerId="LiveId" clId="{32EC01BB-C7ED-4EC9-B5C5-6F6C21B7844A}" dt="2025-11-07T12:17:12.335" v="138"/>
          <ac:spMkLst>
            <pc:docMk/>
            <pc:sldMk cId="3816690071" sldId="262"/>
            <ac:spMk id="3" creationId="{AC716B31-D0A8-478D-9F44-C52141716A07}"/>
          </ac:spMkLst>
        </pc:spChg>
        <pc:spChg chg="add mod">
          <ac:chgData name="Giorgos Kitsakis" userId="50896460c341ec0f" providerId="LiveId" clId="{32EC01BB-C7ED-4EC9-B5C5-6F6C21B7844A}" dt="2025-11-07T12:29:48.797" v="177" actId="2711"/>
          <ac:spMkLst>
            <pc:docMk/>
            <pc:sldMk cId="3816690071" sldId="262"/>
            <ac:spMk id="4" creationId="{E55BC630-145F-4346-8B6E-4FDB6E74B461}"/>
          </ac:spMkLst>
        </pc:spChg>
        <pc:picChg chg="add mod">
          <ac:chgData name="Giorgos Kitsakis" userId="50896460c341ec0f" providerId="LiveId" clId="{32EC01BB-C7ED-4EC9-B5C5-6F6C21B7844A}" dt="2025-11-07T12:18:36.671" v="153" actId="1076"/>
          <ac:picMkLst>
            <pc:docMk/>
            <pc:sldMk cId="3816690071" sldId="262"/>
            <ac:picMk id="6" creationId="{40D6CB04-6FD8-40B1-BBED-1C2A114C0B7F}"/>
          </ac:picMkLst>
        </pc:picChg>
      </pc:sldChg>
      <pc:sldChg chg="new del">
        <pc:chgData name="Giorgos Kitsakis" userId="50896460c341ec0f" providerId="LiveId" clId="{32EC01BB-C7ED-4EC9-B5C5-6F6C21B7844A}" dt="2025-11-07T12:19:01.842" v="161" actId="680"/>
        <pc:sldMkLst>
          <pc:docMk/>
          <pc:sldMk cId="835004840" sldId="263"/>
        </pc:sldMkLst>
      </pc:sldChg>
      <pc:sldChg chg="addSp delSp modSp add mod">
        <pc:chgData name="Giorgos Kitsakis" userId="50896460c341ec0f" providerId="LiveId" clId="{32EC01BB-C7ED-4EC9-B5C5-6F6C21B7844A}" dt="2025-11-07T12:32:13.509" v="203" actId="1076"/>
        <pc:sldMkLst>
          <pc:docMk/>
          <pc:sldMk cId="3313809814" sldId="263"/>
        </pc:sldMkLst>
        <pc:spChg chg="mod">
          <ac:chgData name="Giorgos Kitsakis" userId="50896460c341ec0f" providerId="LiveId" clId="{32EC01BB-C7ED-4EC9-B5C5-6F6C21B7844A}" dt="2025-11-07T12:30:17.887" v="179" actId="207"/>
          <ac:spMkLst>
            <pc:docMk/>
            <pc:sldMk cId="3313809814" sldId="263"/>
            <ac:spMk id="2" creationId="{84A94E59-FF95-45AB-8FFE-17E36B2C6FEB}"/>
          </ac:spMkLst>
        </pc:spChg>
        <pc:spChg chg="mod">
          <ac:chgData name="Giorgos Kitsakis" userId="50896460c341ec0f" providerId="LiveId" clId="{32EC01BB-C7ED-4EC9-B5C5-6F6C21B7844A}" dt="2025-11-07T12:30:31.237" v="183" actId="2711"/>
          <ac:spMkLst>
            <pc:docMk/>
            <pc:sldMk cId="3313809814" sldId="263"/>
            <ac:spMk id="4" creationId="{E55BC630-145F-4346-8B6E-4FDB6E74B461}"/>
          </ac:spMkLst>
        </pc:spChg>
        <pc:picChg chg="del">
          <ac:chgData name="Giorgos Kitsakis" userId="50896460c341ec0f" providerId="LiveId" clId="{32EC01BB-C7ED-4EC9-B5C5-6F6C21B7844A}" dt="2025-11-07T12:32:10.492" v="202" actId="478"/>
          <ac:picMkLst>
            <pc:docMk/>
            <pc:sldMk cId="3313809814" sldId="263"/>
            <ac:picMk id="6" creationId="{40D6CB04-6FD8-40B1-BBED-1C2A114C0B7F}"/>
          </ac:picMkLst>
        </pc:picChg>
        <pc:picChg chg="add mod">
          <ac:chgData name="Giorgos Kitsakis" userId="50896460c341ec0f" providerId="LiveId" clId="{32EC01BB-C7ED-4EC9-B5C5-6F6C21B7844A}" dt="2025-11-07T12:32:13.509" v="203" actId="1076"/>
          <ac:picMkLst>
            <pc:docMk/>
            <pc:sldMk cId="3313809814" sldId="263"/>
            <ac:picMk id="7" creationId="{A9768773-8352-4661-B594-E7C324ECCCBC}"/>
          </ac:picMkLst>
        </pc:picChg>
      </pc:sldChg>
      <pc:sldChg chg="new del">
        <pc:chgData name="Giorgos Kitsakis" userId="50896460c341ec0f" providerId="LiveId" clId="{32EC01BB-C7ED-4EC9-B5C5-6F6C21B7844A}" dt="2025-11-07T12:19:01.360" v="160" actId="680"/>
        <pc:sldMkLst>
          <pc:docMk/>
          <pc:sldMk cId="1299343976" sldId="264"/>
        </pc:sldMkLst>
      </pc:sldChg>
      <pc:sldChg chg="addSp delSp modSp add mod">
        <pc:chgData name="Giorgos Kitsakis" userId="50896460c341ec0f" providerId="LiveId" clId="{32EC01BB-C7ED-4EC9-B5C5-6F6C21B7844A}" dt="2025-11-07T12:32:45.317" v="208" actId="14100"/>
        <pc:sldMkLst>
          <pc:docMk/>
          <pc:sldMk cId="3885034719" sldId="264"/>
        </pc:sldMkLst>
        <pc:spChg chg="mod">
          <ac:chgData name="Giorgos Kitsakis" userId="50896460c341ec0f" providerId="LiveId" clId="{32EC01BB-C7ED-4EC9-B5C5-6F6C21B7844A}" dt="2025-11-07T12:31:03.503" v="190" actId="207"/>
          <ac:spMkLst>
            <pc:docMk/>
            <pc:sldMk cId="3885034719" sldId="264"/>
            <ac:spMk id="2" creationId="{84A94E59-FF95-45AB-8FFE-17E36B2C6FEB}"/>
          </ac:spMkLst>
        </pc:spChg>
        <pc:spChg chg="mod">
          <ac:chgData name="Giorgos Kitsakis" userId="50896460c341ec0f" providerId="LiveId" clId="{32EC01BB-C7ED-4EC9-B5C5-6F6C21B7844A}" dt="2025-11-07T12:31:13.637" v="193" actId="2711"/>
          <ac:spMkLst>
            <pc:docMk/>
            <pc:sldMk cId="3885034719" sldId="264"/>
            <ac:spMk id="4" creationId="{E55BC630-145F-4346-8B6E-4FDB6E74B461}"/>
          </ac:spMkLst>
        </pc:spChg>
        <pc:picChg chg="del">
          <ac:chgData name="Giorgos Kitsakis" userId="50896460c341ec0f" providerId="LiveId" clId="{32EC01BB-C7ED-4EC9-B5C5-6F6C21B7844A}" dt="2025-11-07T12:32:27.408" v="204" actId="21"/>
          <ac:picMkLst>
            <pc:docMk/>
            <pc:sldMk cId="3885034719" sldId="264"/>
            <ac:picMk id="6" creationId="{40D6CB04-6FD8-40B1-BBED-1C2A114C0B7F}"/>
          </ac:picMkLst>
        </pc:picChg>
        <pc:picChg chg="add mod">
          <ac:chgData name="Giorgos Kitsakis" userId="50896460c341ec0f" providerId="LiveId" clId="{32EC01BB-C7ED-4EC9-B5C5-6F6C21B7844A}" dt="2025-11-07T12:32:45.317" v="208" actId="14100"/>
          <ac:picMkLst>
            <pc:docMk/>
            <pc:sldMk cId="3885034719" sldId="264"/>
            <ac:picMk id="7" creationId="{B2D6EC3A-868A-4B1C-8860-39C886038462}"/>
          </ac:picMkLst>
        </pc:picChg>
      </pc:sldChg>
      <pc:sldChg chg="new del">
        <pc:chgData name="Giorgos Kitsakis" userId="50896460c341ec0f" providerId="LiveId" clId="{32EC01BB-C7ED-4EC9-B5C5-6F6C21B7844A}" dt="2025-11-07T12:19:00.412" v="159" actId="680"/>
        <pc:sldMkLst>
          <pc:docMk/>
          <pc:sldMk cId="1291178496" sldId="265"/>
        </pc:sldMkLst>
      </pc:sldChg>
      <pc:sldChg chg="addSp delSp modSp add mod">
        <pc:chgData name="Giorgos Kitsakis" userId="50896460c341ec0f" providerId="LiveId" clId="{32EC01BB-C7ED-4EC9-B5C5-6F6C21B7844A}" dt="2025-11-07T12:33:01.517" v="213" actId="14100"/>
        <pc:sldMkLst>
          <pc:docMk/>
          <pc:sldMk cId="2117791449" sldId="265"/>
        </pc:sldMkLst>
        <pc:spChg chg="mod">
          <ac:chgData name="Giorgos Kitsakis" userId="50896460c341ec0f" providerId="LiveId" clId="{32EC01BB-C7ED-4EC9-B5C5-6F6C21B7844A}" dt="2025-11-07T12:31:29.571" v="197" actId="2711"/>
          <ac:spMkLst>
            <pc:docMk/>
            <pc:sldMk cId="2117791449" sldId="265"/>
            <ac:spMk id="2" creationId="{84A94E59-FF95-45AB-8FFE-17E36B2C6FEB}"/>
          </ac:spMkLst>
        </pc:spChg>
        <pc:spChg chg="mod">
          <ac:chgData name="Giorgos Kitsakis" userId="50896460c341ec0f" providerId="LiveId" clId="{32EC01BB-C7ED-4EC9-B5C5-6F6C21B7844A}" dt="2025-11-07T12:31:43.419" v="200" actId="2711"/>
          <ac:spMkLst>
            <pc:docMk/>
            <pc:sldMk cId="2117791449" sldId="265"/>
            <ac:spMk id="4" creationId="{E55BC630-145F-4346-8B6E-4FDB6E74B461}"/>
          </ac:spMkLst>
        </pc:spChg>
        <pc:picChg chg="del">
          <ac:chgData name="Giorgos Kitsakis" userId="50896460c341ec0f" providerId="LiveId" clId="{32EC01BB-C7ED-4EC9-B5C5-6F6C21B7844A}" dt="2025-11-07T12:32:50.172" v="209" actId="478"/>
          <ac:picMkLst>
            <pc:docMk/>
            <pc:sldMk cId="2117791449" sldId="265"/>
            <ac:picMk id="6" creationId="{40D6CB04-6FD8-40B1-BBED-1C2A114C0B7F}"/>
          </ac:picMkLst>
        </pc:picChg>
        <pc:picChg chg="add mod">
          <ac:chgData name="Giorgos Kitsakis" userId="50896460c341ec0f" providerId="LiveId" clId="{32EC01BB-C7ED-4EC9-B5C5-6F6C21B7844A}" dt="2025-11-07T12:33:01.517" v="213" actId="14100"/>
          <ac:picMkLst>
            <pc:docMk/>
            <pc:sldMk cId="2117791449" sldId="265"/>
            <ac:picMk id="7" creationId="{A6FE78D6-2296-4BA3-88E7-FC499B7DFD6B}"/>
          </ac:picMkLst>
        </pc:picChg>
      </pc:sldChg>
      <pc:sldChg chg="addSp delSp modSp add mod ord">
        <pc:chgData name="Giorgos Kitsakis" userId="50896460c341ec0f" providerId="LiveId" clId="{32EC01BB-C7ED-4EC9-B5C5-6F6C21B7844A}" dt="2025-11-07T12:40:10.373" v="343" actId="1076"/>
        <pc:sldMkLst>
          <pc:docMk/>
          <pc:sldMk cId="302947010" sldId="266"/>
        </pc:sldMkLst>
        <pc:spChg chg="mod">
          <ac:chgData name="Giorgos Kitsakis" userId="50896460c341ec0f" providerId="LiveId" clId="{32EC01BB-C7ED-4EC9-B5C5-6F6C21B7844A}" dt="2025-11-07T12:38:16.540" v="317" actId="2711"/>
          <ac:spMkLst>
            <pc:docMk/>
            <pc:sldMk cId="302947010" sldId="266"/>
            <ac:spMk id="2" creationId="{84A94E59-FF95-45AB-8FFE-17E36B2C6FEB}"/>
          </ac:spMkLst>
        </pc:spChg>
        <pc:spChg chg="mod">
          <ac:chgData name="Giorgos Kitsakis" userId="50896460c341ec0f" providerId="LiveId" clId="{32EC01BB-C7ED-4EC9-B5C5-6F6C21B7844A}" dt="2025-11-07T12:38:54.316" v="321" actId="20577"/>
          <ac:spMkLst>
            <pc:docMk/>
            <pc:sldMk cId="302947010" sldId="266"/>
            <ac:spMk id="4" creationId="{E55BC630-145F-4346-8B6E-4FDB6E74B461}"/>
          </ac:spMkLst>
        </pc:spChg>
        <pc:picChg chg="add mod">
          <ac:chgData name="Giorgos Kitsakis" userId="50896460c341ec0f" providerId="LiveId" clId="{32EC01BB-C7ED-4EC9-B5C5-6F6C21B7844A}" dt="2025-11-07T12:40:10.373" v="343" actId="1076"/>
          <ac:picMkLst>
            <pc:docMk/>
            <pc:sldMk cId="302947010" sldId="266"/>
            <ac:picMk id="6" creationId="{774D79BB-4D9B-4E3A-8EBD-CF8295B0858A}"/>
          </ac:picMkLst>
        </pc:picChg>
        <pc:picChg chg="del">
          <ac:chgData name="Giorgos Kitsakis" userId="50896460c341ec0f" providerId="LiveId" clId="{32EC01BB-C7ED-4EC9-B5C5-6F6C21B7844A}" dt="2025-11-07T12:39:54.012" v="337" actId="478"/>
          <ac:picMkLst>
            <pc:docMk/>
            <pc:sldMk cId="302947010" sldId="266"/>
            <ac:picMk id="7" creationId="{A6FE78D6-2296-4BA3-88E7-FC499B7DFD6B}"/>
          </ac:picMkLst>
        </pc:picChg>
      </pc:sldChg>
      <pc:sldChg chg="addSp delSp modSp add mod">
        <pc:chgData name="Giorgos Kitsakis" userId="50896460c341ec0f" providerId="LiveId" clId="{32EC01BB-C7ED-4EC9-B5C5-6F6C21B7844A}" dt="2025-11-07T12:40:38.606" v="350" actId="14100"/>
        <pc:sldMkLst>
          <pc:docMk/>
          <pc:sldMk cId="1409124155" sldId="267"/>
        </pc:sldMkLst>
        <pc:spChg chg="mod">
          <ac:chgData name="Giorgos Kitsakis" userId="50896460c341ec0f" providerId="LiveId" clId="{32EC01BB-C7ED-4EC9-B5C5-6F6C21B7844A}" dt="2025-11-07T12:39:12.315" v="327" actId="2711"/>
          <ac:spMkLst>
            <pc:docMk/>
            <pc:sldMk cId="1409124155" sldId="267"/>
            <ac:spMk id="2" creationId="{84A94E59-FF95-45AB-8FFE-17E36B2C6FEB}"/>
          </ac:spMkLst>
        </pc:spChg>
        <pc:spChg chg="mod">
          <ac:chgData name="Giorgos Kitsakis" userId="50896460c341ec0f" providerId="LiveId" clId="{32EC01BB-C7ED-4EC9-B5C5-6F6C21B7844A}" dt="2025-11-07T12:39:22.068" v="330" actId="2711"/>
          <ac:spMkLst>
            <pc:docMk/>
            <pc:sldMk cId="1409124155" sldId="267"/>
            <ac:spMk id="4" creationId="{E55BC630-145F-4346-8B6E-4FDB6E74B461}"/>
          </ac:spMkLst>
        </pc:spChg>
        <pc:picChg chg="add mod">
          <ac:chgData name="Giorgos Kitsakis" userId="50896460c341ec0f" providerId="LiveId" clId="{32EC01BB-C7ED-4EC9-B5C5-6F6C21B7844A}" dt="2025-11-07T12:40:38.606" v="350" actId="14100"/>
          <ac:picMkLst>
            <pc:docMk/>
            <pc:sldMk cId="1409124155" sldId="267"/>
            <ac:picMk id="6" creationId="{5C2BE0A8-4CB3-4EDB-860B-AEF249134CB8}"/>
          </ac:picMkLst>
        </pc:picChg>
        <pc:picChg chg="del">
          <ac:chgData name="Giorgos Kitsakis" userId="50896460c341ec0f" providerId="LiveId" clId="{32EC01BB-C7ED-4EC9-B5C5-6F6C21B7844A}" dt="2025-11-07T12:40:14.486" v="344" actId="478"/>
          <ac:picMkLst>
            <pc:docMk/>
            <pc:sldMk cId="1409124155" sldId="267"/>
            <ac:picMk id="7" creationId="{A6FE78D6-2296-4BA3-88E7-FC499B7DFD6B}"/>
          </ac:picMkLst>
        </pc:picChg>
      </pc:sldChg>
      <pc:sldChg chg="addSp delSp modSp add mod">
        <pc:chgData name="Giorgos Kitsakis" userId="50896460c341ec0f" providerId="LiveId" clId="{32EC01BB-C7ED-4EC9-B5C5-6F6C21B7844A}" dt="2025-11-07T12:40:54.700" v="356" actId="1076"/>
        <pc:sldMkLst>
          <pc:docMk/>
          <pc:sldMk cId="1699747806" sldId="268"/>
        </pc:sldMkLst>
        <pc:spChg chg="mod">
          <ac:chgData name="Giorgos Kitsakis" userId="50896460c341ec0f" providerId="LiveId" clId="{32EC01BB-C7ED-4EC9-B5C5-6F6C21B7844A}" dt="2025-11-07T12:39:32.781" v="333" actId="2711"/>
          <ac:spMkLst>
            <pc:docMk/>
            <pc:sldMk cId="1699747806" sldId="268"/>
            <ac:spMk id="2" creationId="{84A94E59-FF95-45AB-8FFE-17E36B2C6FEB}"/>
          </ac:spMkLst>
        </pc:spChg>
        <pc:spChg chg="mod">
          <ac:chgData name="Giorgos Kitsakis" userId="50896460c341ec0f" providerId="LiveId" clId="{32EC01BB-C7ED-4EC9-B5C5-6F6C21B7844A}" dt="2025-11-07T12:39:43.540" v="336" actId="2711"/>
          <ac:spMkLst>
            <pc:docMk/>
            <pc:sldMk cId="1699747806" sldId="268"/>
            <ac:spMk id="4" creationId="{E55BC630-145F-4346-8B6E-4FDB6E74B461}"/>
          </ac:spMkLst>
        </pc:spChg>
        <pc:picChg chg="add mod">
          <ac:chgData name="Giorgos Kitsakis" userId="50896460c341ec0f" providerId="LiveId" clId="{32EC01BB-C7ED-4EC9-B5C5-6F6C21B7844A}" dt="2025-11-07T12:40:54.700" v="356" actId="1076"/>
          <ac:picMkLst>
            <pc:docMk/>
            <pc:sldMk cId="1699747806" sldId="268"/>
            <ac:picMk id="6" creationId="{92CE062F-8222-4C84-B4FA-FC36A41A5146}"/>
          </ac:picMkLst>
        </pc:picChg>
        <pc:picChg chg="del">
          <ac:chgData name="Giorgos Kitsakis" userId="50896460c341ec0f" providerId="LiveId" clId="{32EC01BB-C7ED-4EC9-B5C5-6F6C21B7844A}" dt="2025-11-07T12:40:42.949" v="351" actId="478"/>
          <ac:picMkLst>
            <pc:docMk/>
            <pc:sldMk cId="1699747806" sldId="268"/>
            <ac:picMk id="7" creationId="{A6FE78D6-2296-4BA3-88E7-FC499B7DFD6B}"/>
          </ac:picMkLst>
        </pc:picChg>
      </pc:sldChg>
      <pc:sldChg chg="new del">
        <pc:chgData name="Giorgos Kitsakis" userId="50896460c341ec0f" providerId="LiveId" clId="{32EC01BB-C7ED-4EC9-B5C5-6F6C21B7844A}" dt="2025-11-07T12:39:00.093" v="323" actId="680"/>
        <pc:sldMkLst>
          <pc:docMk/>
          <pc:sldMk cId="3218824369" sldId="26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503008"/>
            <a:ext cx="7772400" cy="1470025"/>
          </a:xfrm>
        </p:spPr>
        <p:txBody>
          <a:bodyPr/>
          <a:lstStyle/>
          <a:p>
            <a:r>
              <a:rPr dirty="0"/>
              <a:t>Interactive Visualizations</a:t>
            </a:r>
          </a:p>
        </p:txBody>
      </p:sp>
      <p:sp>
        <p:nvSpPr>
          <p:cNvPr id="3" name="Subtitle 2"/>
          <p:cNvSpPr>
            <a:spLocks noGrp="1"/>
          </p:cNvSpPr>
          <p:nvPr>
            <p:ph type="subTitle" idx="1"/>
          </p:nvPr>
        </p:nvSpPr>
        <p:spPr>
          <a:xfrm>
            <a:off x="1371600" y="2174449"/>
            <a:ext cx="6400800" cy="2509101"/>
          </a:xfrm>
        </p:spPr>
        <p:txBody>
          <a:bodyPr>
            <a:normAutofit fontScale="85000" lnSpcReduction="20000"/>
          </a:bodyPr>
          <a:lstStyle/>
          <a:p>
            <a:r>
              <a:rPr dirty="0"/>
              <a:t>PISA 2018 Analysis</a:t>
            </a:r>
          </a:p>
          <a:p>
            <a:endParaRPr dirty="0"/>
          </a:p>
          <a:p>
            <a:r>
              <a:rPr dirty="0"/>
              <a:t>Country Performance Explorer &amp; Gender Performance Explorer</a:t>
            </a:r>
          </a:p>
          <a:p>
            <a:endParaRPr dirty="0"/>
          </a:p>
          <a:p>
            <a:r>
              <a:rPr dirty="0"/>
              <a:t>Built with Python </a:t>
            </a:r>
            <a:r>
              <a:rPr dirty="0" err="1"/>
              <a:t>Plotly</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8091"/>
            <a:ext cx="8229600" cy="731520"/>
          </a:xfrm>
          <a:prstGeom prst="rect">
            <a:avLst/>
          </a:prstGeom>
          <a:noFill/>
        </p:spPr>
        <p:txBody>
          <a:bodyPr wrap="none">
            <a:spAutoFit/>
          </a:bodyPr>
          <a:lstStyle/>
          <a:p>
            <a:pPr algn="ctr">
              <a:defRPr sz="3200" b="1"/>
            </a:pPr>
            <a:r>
              <a:rPr dirty="0"/>
              <a:t>Interactive Visualization Overview</a:t>
            </a:r>
          </a:p>
        </p:txBody>
      </p:sp>
      <p:sp>
        <p:nvSpPr>
          <p:cNvPr id="3" name="TextBox 2"/>
          <p:cNvSpPr txBox="1"/>
          <p:nvPr/>
        </p:nvSpPr>
        <p:spPr>
          <a:xfrm>
            <a:off x="914400" y="860196"/>
            <a:ext cx="7315200" cy="5539978"/>
          </a:xfrm>
          <a:prstGeom prst="rect">
            <a:avLst/>
          </a:prstGeom>
          <a:noFill/>
        </p:spPr>
        <p:txBody>
          <a:bodyPr wrap="square">
            <a:spAutoFit/>
          </a:bodyPr>
          <a:lstStyle/>
          <a:p>
            <a:pPr>
              <a:spcBef>
                <a:spcPts val="1200"/>
              </a:spcBef>
              <a:defRPr sz="1800"/>
            </a:pPr>
            <a:r>
              <a:rPr dirty="0"/>
              <a:t>Two interactive plots created using Python </a:t>
            </a:r>
            <a:r>
              <a:rPr dirty="0" err="1"/>
              <a:t>Plotly</a:t>
            </a:r>
            <a:r>
              <a:rPr dirty="0"/>
              <a:t> library:</a:t>
            </a:r>
          </a:p>
          <a:p>
            <a:pPr>
              <a:spcBef>
                <a:spcPts val="1200"/>
              </a:spcBef>
              <a:defRPr sz="1800"/>
            </a:pPr>
            <a:r>
              <a:rPr dirty="0"/>
              <a:t>1. Country Performance Explorer</a:t>
            </a:r>
          </a:p>
          <a:p>
            <a:pPr lvl="1">
              <a:spcBef>
                <a:spcPts val="1200"/>
              </a:spcBef>
              <a:defRPr sz="1800"/>
            </a:pPr>
            <a:r>
              <a:rPr dirty="0"/>
              <a:t>   • Compare Math, Reading, and Science scores across countries</a:t>
            </a:r>
          </a:p>
          <a:p>
            <a:pPr lvl="1">
              <a:spcBef>
                <a:spcPts val="1200"/>
              </a:spcBef>
              <a:defRPr sz="1800"/>
            </a:pPr>
            <a:r>
              <a:rPr dirty="0"/>
              <a:t>   • Filter by country groups (All, Top 10, Top 20, Greece vs Top 5)</a:t>
            </a:r>
          </a:p>
          <a:p>
            <a:pPr lvl="1">
              <a:spcBef>
                <a:spcPts val="1200"/>
              </a:spcBef>
              <a:defRPr sz="1800"/>
            </a:pPr>
            <a:r>
              <a:rPr dirty="0"/>
              <a:t>   • Interactive hover tooltips showing exact scores</a:t>
            </a:r>
          </a:p>
          <a:p>
            <a:pPr>
              <a:spcBef>
                <a:spcPts val="1200"/>
              </a:spcBef>
              <a:defRPr sz="1800"/>
            </a:pPr>
            <a:r>
              <a:rPr dirty="0"/>
              <a:t>2. Gender Performance Explorer</a:t>
            </a:r>
          </a:p>
          <a:p>
            <a:pPr lvl="1">
              <a:spcBef>
                <a:spcPts val="1200"/>
              </a:spcBef>
              <a:defRPr sz="1800"/>
            </a:pPr>
            <a:r>
              <a:rPr dirty="0"/>
              <a:t>   • Explore actual scores by gender (Boys, Girls, Both)</a:t>
            </a:r>
          </a:p>
          <a:p>
            <a:pPr lvl="1">
              <a:spcBef>
                <a:spcPts val="1200"/>
              </a:spcBef>
              <a:defRPr sz="1800"/>
            </a:pPr>
            <a:r>
              <a:rPr dirty="0"/>
              <a:t>   • Filter by Subject, Gender, and Country Groups</a:t>
            </a:r>
          </a:p>
          <a:p>
            <a:pPr lvl="1">
              <a:spcBef>
                <a:spcPts val="1200"/>
              </a:spcBef>
              <a:defRPr sz="1800"/>
            </a:pPr>
            <a:r>
              <a:rPr dirty="0"/>
              <a:t>   • Greece highlighted in gold for easy identification</a:t>
            </a:r>
          </a:p>
          <a:p>
            <a:pPr>
              <a:spcBef>
                <a:spcPts val="1200"/>
              </a:spcBef>
              <a:defRPr sz="1800"/>
            </a:pPr>
            <a:endParaRPr dirty="0"/>
          </a:p>
          <a:p>
            <a:pPr>
              <a:spcBef>
                <a:spcPts val="1200"/>
              </a:spcBef>
              <a:defRPr sz="1800"/>
            </a:pPr>
            <a:r>
              <a:rPr dirty="0"/>
              <a:t>Technology: Python </a:t>
            </a:r>
            <a:r>
              <a:rPr dirty="0" err="1"/>
              <a:t>Plotly</a:t>
            </a:r>
            <a:r>
              <a:rPr dirty="0"/>
              <a:t> (equivalent to R Shiny for Python)</a:t>
            </a:r>
          </a:p>
          <a:p>
            <a:pPr>
              <a:spcBef>
                <a:spcPts val="1200"/>
              </a:spcBef>
              <a:defRPr sz="1800"/>
            </a:pPr>
            <a:r>
              <a:rPr dirty="0"/>
              <a:t>Format: HTML files - open in any web browser</a:t>
            </a:r>
          </a:p>
          <a:p>
            <a:pPr>
              <a:spcBef>
                <a:spcPts val="1200"/>
              </a:spcBef>
              <a:defRPr sz="1800"/>
            </a:pPr>
            <a:r>
              <a:rPr dirty="0"/>
              <a:t>Data: 606,627 students from 80 countries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3377"/>
            <a:ext cx="8229600" cy="731520"/>
          </a:xfrm>
          <a:prstGeom prst="rect">
            <a:avLst/>
          </a:prstGeom>
          <a:noFill/>
        </p:spPr>
        <p:txBody>
          <a:bodyPr wrap="none">
            <a:spAutoFit/>
          </a:bodyPr>
          <a:lstStyle/>
          <a:p>
            <a:pPr algn="ctr">
              <a:defRPr sz="3200" b="1"/>
            </a:pPr>
            <a:r>
              <a:rPr dirty="0"/>
              <a:t>Plot 1: Country Performance Explorer</a:t>
            </a:r>
          </a:p>
        </p:txBody>
      </p:sp>
      <p:sp>
        <p:nvSpPr>
          <p:cNvPr id="3" name="TextBox 2"/>
          <p:cNvSpPr txBox="1"/>
          <p:nvPr/>
        </p:nvSpPr>
        <p:spPr>
          <a:xfrm>
            <a:off x="876693" y="1004897"/>
            <a:ext cx="6874497" cy="5714385"/>
          </a:xfrm>
          <a:prstGeom prst="rect">
            <a:avLst/>
          </a:prstGeom>
          <a:noFill/>
        </p:spPr>
        <p:txBody>
          <a:bodyPr wrap="square">
            <a:spAutoFit/>
          </a:bodyPr>
          <a:lstStyle/>
          <a:p>
            <a:pPr>
              <a:spcBef>
                <a:spcPts val="800"/>
              </a:spcBef>
              <a:defRPr sz="1600"/>
            </a:pPr>
            <a:r>
              <a:rPr sz="1600" dirty="0"/>
              <a:t>Interactive Capabilities:</a:t>
            </a:r>
          </a:p>
          <a:p>
            <a:pPr>
              <a:spcBef>
                <a:spcPts val="800"/>
              </a:spcBef>
              <a:defRPr sz="1600"/>
            </a:pPr>
            <a:r>
              <a:rPr sz="1400" dirty="0"/>
              <a:t>Dropdown Filter Options:</a:t>
            </a:r>
          </a:p>
          <a:p>
            <a:pPr lvl="1">
              <a:spcBef>
                <a:spcPts val="800"/>
              </a:spcBef>
              <a:defRPr sz="1600"/>
            </a:pPr>
            <a:r>
              <a:rPr sz="1400" dirty="0"/>
              <a:t>• All Countries (80) - View all participating countries</a:t>
            </a:r>
          </a:p>
          <a:p>
            <a:pPr lvl="1">
              <a:spcBef>
                <a:spcPts val="800"/>
              </a:spcBef>
              <a:defRPr sz="1600"/>
            </a:pPr>
            <a:r>
              <a:rPr sz="1400" dirty="0"/>
              <a:t>• Top 10 - World's highest performers</a:t>
            </a:r>
          </a:p>
          <a:p>
            <a:pPr lvl="1">
              <a:spcBef>
                <a:spcPts val="800"/>
              </a:spcBef>
              <a:defRPr sz="1600"/>
            </a:pPr>
            <a:r>
              <a:rPr sz="1400" dirty="0"/>
              <a:t>• Top 20 - Extended top performers</a:t>
            </a:r>
          </a:p>
          <a:p>
            <a:pPr lvl="1">
              <a:spcBef>
                <a:spcPts val="800"/>
              </a:spcBef>
              <a:defRPr sz="1600"/>
            </a:pPr>
            <a:r>
              <a:rPr sz="1400" dirty="0"/>
              <a:t>• Greece vs Top 5 - Direct comparison with leaders</a:t>
            </a:r>
          </a:p>
          <a:p>
            <a:pPr>
              <a:spcBef>
                <a:spcPts val="800"/>
              </a:spcBef>
              <a:defRPr sz="1600"/>
            </a:pPr>
            <a:r>
              <a:rPr sz="1400" dirty="0"/>
              <a:t>Visual Features:</a:t>
            </a:r>
          </a:p>
          <a:p>
            <a:pPr lvl="1">
              <a:spcBef>
                <a:spcPts val="800"/>
              </a:spcBef>
              <a:defRPr sz="1600"/>
            </a:pPr>
            <a:r>
              <a:rPr sz="1400" dirty="0"/>
              <a:t>• 3 bars per country (Math, Reading, Science)</a:t>
            </a:r>
          </a:p>
          <a:p>
            <a:pPr lvl="1">
              <a:spcBef>
                <a:spcPts val="800"/>
              </a:spcBef>
              <a:defRPr sz="1600"/>
            </a:pPr>
            <a:r>
              <a:rPr sz="1400" dirty="0"/>
              <a:t>• Color-coded by subject:</a:t>
            </a:r>
          </a:p>
          <a:p>
            <a:pPr lvl="2">
              <a:spcBef>
                <a:spcPts val="800"/>
              </a:spcBef>
              <a:defRPr sz="1600"/>
            </a:pPr>
            <a:r>
              <a:rPr sz="1400" dirty="0"/>
              <a:t>  - Blue: Mathematics</a:t>
            </a:r>
          </a:p>
          <a:p>
            <a:pPr lvl="2">
              <a:spcBef>
                <a:spcPts val="800"/>
              </a:spcBef>
              <a:defRPr sz="1600"/>
            </a:pPr>
            <a:r>
              <a:rPr sz="1400" dirty="0"/>
              <a:t>  - Red: Reading</a:t>
            </a:r>
          </a:p>
          <a:p>
            <a:pPr lvl="2">
              <a:spcBef>
                <a:spcPts val="800"/>
              </a:spcBef>
              <a:defRPr sz="1600"/>
            </a:pPr>
            <a:r>
              <a:rPr sz="1400" dirty="0"/>
              <a:t>  - Green: Science</a:t>
            </a:r>
          </a:p>
          <a:p>
            <a:pPr lvl="1">
              <a:spcBef>
                <a:spcPts val="800"/>
              </a:spcBef>
              <a:defRPr sz="1600"/>
            </a:pPr>
            <a:r>
              <a:rPr sz="1400" dirty="0"/>
              <a:t>• Hover tooltips showing exact scores</a:t>
            </a:r>
          </a:p>
          <a:p>
            <a:pPr lvl="1">
              <a:spcBef>
                <a:spcPts val="800"/>
              </a:spcBef>
              <a:defRPr sz="1600"/>
            </a:pPr>
            <a:r>
              <a:rPr sz="1400" dirty="0"/>
              <a:t>• Legend positioned on right side</a:t>
            </a:r>
          </a:p>
          <a:p>
            <a:pPr>
              <a:spcBef>
                <a:spcPts val="800"/>
              </a:spcBef>
              <a:defRPr sz="1600"/>
            </a:pPr>
            <a:r>
              <a:rPr sz="1400" dirty="0"/>
              <a:t>User Interaction:</a:t>
            </a:r>
          </a:p>
          <a:p>
            <a:pPr lvl="1">
              <a:spcBef>
                <a:spcPts val="800"/>
              </a:spcBef>
              <a:defRPr sz="1600"/>
            </a:pPr>
            <a:r>
              <a:rPr sz="1400" dirty="0"/>
              <a:t>• Select country group from dropdown menu</a:t>
            </a:r>
          </a:p>
          <a:p>
            <a:pPr lvl="1">
              <a:spcBef>
                <a:spcPts val="800"/>
              </a:spcBef>
              <a:defRPr sz="1600"/>
            </a:pPr>
            <a:r>
              <a:rPr sz="1400" dirty="0"/>
              <a:t>• Hover over bars to see detailed scores</a:t>
            </a:r>
          </a:p>
          <a:p>
            <a:pPr lvl="1">
              <a:spcBef>
                <a:spcPts val="800"/>
              </a:spcBef>
              <a:defRPr sz="1600"/>
            </a:pPr>
            <a:r>
              <a:rPr sz="1400" dirty="0"/>
              <a:t>• Compare performance across all three subjects simultaneously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2064422" y="273377"/>
            <a:ext cx="5015155" cy="584775"/>
          </a:xfrm>
          <a:prstGeom prst="rect">
            <a:avLst/>
          </a:prstGeom>
          <a:noFill/>
        </p:spPr>
        <p:txBody>
          <a:bodyPr wrap="none">
            <a:spAutoFit/>
          </a:bodyPr>
          <a:lstStyle/>
          <a:p>
            <a:pPr algn="ctr">
              <a:defRPr sz="3200" b="1"/>
            </a:pPr>
            <a:r>
              <a:rPr dirty="0"/>
              <a:t>Plot 1: </a:t>
            </a:r>
            <a:r>
              <a:rPr lang="en-US" dirty="0"/>
              <a:t>Viewing All Countries</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738664"/>
          </a:xfrm>
          <a:prstGeom prst="rect">
            <a:avLst/>
          </a:prstGeom>
          <a:noFill/>
        </p:spPr>
        <p:txBody>
          <a:bodyPr wrap="square" rtlCol="0">
            <a:spAutoFit/>
          </a:bodyPr>
          <a:lstStyle/>
          <a:p>
            <a:r>
              <a:rPr lang="en-US" sz="1400" b="0" i="0" dirty="0">
                <a:effectLst/>
              </a:rPr>
              <a:t>The default view displays all participating countries across all three subjects (Mathematics, Reading, Science). This comprehensive view allows users to explore the complete dataset and see the full range of global performance. Notice how the bars show the average of all three subjects for each country</a:t>
            </a:r>
            <a:endParaRPr lang="el-GR" sz="1400" dirty="0"/>
          </a:p>
        </p:txBody>
      </p:sp>
      <p:pic>
        <p:nvPicPr>
          <p:cNvPr id="6" name="Picture 5">
            <a:extLst>
              <a:ext uri="{FF2B5EF4-FFF2-40B4-BE49-F238E27FC236}">
                <a16:creationId xmlns:a16="http://schemas.microsoft.com/office/drawing/2014/main" id="{40D6CB04-6FD8-40B1-BBED-1C2A114C0B7F}"/>
              </a:ext>
            </a:extLst>
          </p:cNvPr>
          <p:cNvPicPr>
            <a:picLocks noChangeAspect="1"/>
          </p:cNvPicPr>
          <p:nvPr/>
        </p:nvPicPr>
        <p:blipFill>
          <a:blip r:embed="rId2"/>
          <a:stretch>
            <a:fillRect/>
          </a:stretch>
        </p:blipFill>
        <p:spPr>
          <a:xfrm>
            <a:off x="141402" y="1086850"/>
            <a:ext cx="8889476" cy="4114174"/>
          </a:xfrm>
          <a:prstGeom prst="rect">
            <a:avLst/>
          </a:prstGeom>
        </p:spPr>
      </p:pic>
    </p:spTree>
    <p:extLst>
      <p:ext uri="{BB962C8B-B14F-4D97-AF65-F5344CB8AC3E}">
        <p14:creationId xmlns:p14="http://schemas.microsoft.com/office/powerpoint/2010/main" val="3816690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1061359" y="273377"/>
            <a:ext cx="7021282" cy="584775"/>
          </a:xfrm>
          <a:prstGeom prst="rect">
            <a:avLst/>
          </a:prstGeom>
          <a:noFill/>
        </p:spPr>
        <p:txBody>
          <a:bodyPr wrap="none">
            <a:spAutoFit/>
          </a:bodyPr>
          <a:lstStyle/>
          <a:p>
            <a:pPr algn="ctr">
              <a:defRPr sz="3200" b="1"/>
            </a:pPr>
            <a:r>
              <a:rPr lang="en-US" b="0" i="0" dirty="0">
                <a:effectLst/>
                <a:latin typeface="-apple-system"/>
              </a:rPr>
              <a:t>Plot 1: Filtering by Subject - Two Subjects</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954107"/>
          </a:xfrm>
          <a:prstGeom prst="rect">
            <a:avLst/>
          </a:prstGeom>
          <a:noFill/>
        </p:spPr>
        <p:txBody>
          <a:bodyPr wrap="square" rtlCol="0">
            <a:spAutoFit/>
          </a:bodyPr>
          <a:lstStyle/>
          <a:p>
            <a:r>
              <a:rPr lang="en-US" sz="1400" b="0" i="0" dirty="0">
                <a:effectLst/>
              </a:rPr>
              <a:t>Demonstrating the subject filter functionality: users can select specific subjects to analyze. Here we see all countries but only two subjects are included in the calculation. This interactive feature allows for targeted comparisons and reveals how country rankings change when focusing on specific academic domains.</a:t>
            </a:r>
            <a:endParaRPr lang="el-GR" sz="1400" dirty="0"/>
          </a:p>
        </p:txBody>
      </p:sp>
      <p:pic>
        <p:nvPicPr>
          <p:cNvPr id="7" name="Picture 6">
            <a:extLst>
              <a:ext uri="{FF2B5EF4-FFF2-40B4-BE49-F238E27FC236}">
                <a16:creationId xmlns:a16="http://schemas.microsoft.com/office/drawing/2014/main" id="{A9768773-8352-4661-B594-E7C324ECCCBC}"/>
              </a:ext>
            </a:extLst>
          </p:cNvPr>
          <p:cNvPicPr>
            <a:picLocks noChangeAspect="1"/>
          </p:cNvPicPr>
          <p:nvPr/>
        </p:nvPicPr>
        <p:blipFill>
          <a:blip r:embed="rId2"/>
          <a:stretch>
            <a:fillRect/>
          </a:stretch>
        </p:blipFill>
        <p:spPr>
          <a:xfrm>
            <a:off x="0" y="1270259"/>
            <a:ext cx="9144000" cy="3747357"/>
          </a:xfrm>
          <a:prstGeom prst="rect">
            <a:avLst/>
          </a:prstGeom>
        </p:spPr>
      </p:pic>
    </p:spTree>
    <p:extLst>
      <p:ext uri="{BB962C8B-B14F-4D97-AF65-F5344CB8AC3E}">
        <p14:creationId xmlns:p14="http://schemas.microsoft.com/office/powerpoint/2010/main" val="33138098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1237690" y="273377"/>
            <a:ext cx="6668620" cy="584775"/>
          </a:xfrm>
          <a:prstGeom prst="rect">
            <a:avLst/>
          </a:prstGeom>
          <a:noFill/>
        </p:spPr>
        <p:txBody>
          <a:bodyPr wrap="none">
            <a:spAutoFit/>
          </a:bodyPr>
          <a:lstStyle/>
          <a:p>
            <a:pPr algn="ctr">
              <a:defRPr sz="3200" b="1"/>
            </a:pPr>
            <a:r>
              <a:rPr lang="en-US" b="0" i="0" dirty="0">
                <a:effectLst/>
              </a:rPr>
              <a:t>Plot 1: Top 20 Countries, Single Subject</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738664"/>
          </a:xfrm>
          <a:prstGeom prst="rect">
            <a:avLst/>
          </a:prstGeom>
          <a:noFill/>
        </p:spPr>
        <p:txBody>
          <a:bodyPr wrap="square" rtlCol="0">
            <a:spAutoFit/>
          </a:bodyPr>
          <a:lstStyle/>
          <a:p>
            <a:r>
              <a:rPr lang="en-US" sz="1400" b="0" i="0" dirty="0">
                <a:effectLst/>
              </a:rPr>
              <a:t>Combining multiple filters: displaying only the top 20 performers in a single subject. This demonstrates how users can narrow down the analysis by both country count and subject selection simultaneously. The interactive dropdown menus work together to create customized views of the data.</a:t>
            </a:r>
            <a:endParaRPr lang="el-GR" sz="1400" dirty="0"/>
          </a:p>
        </p:txBody>
      </p:sp>
      <p:pic>
        <p:nvPicPr>
          <p:cNvPr id="7" name="Picture 6">
            <a:extLst>
              <a:ext uri="{FF2B5EF4-FFF2-40B4-BE49-F238E27FC236}">
                <a16:creationId xmlns:a16="http://schemas.microsoft.com/office/drawing/2014/main" id="{B2D6EC3A-868A-4B1C-8860-39C886038462}"/>
              </a:ext>
            </a:extLst>
          </p:cNvPr>
          <p:cNvPicPr>
            <a:picLocks noChangeAspect="1"/>
          </p:cNvPicPr>
          <p:nvPr/>
        </p:nvPicPr>
        <p:blipFill>
          <a:blip r:embed="rId2"/>
          <a:stretch>
            <a:fillRect/>
          </a:stretch>
        </p:blipFill>
        <p:spPr>
          <a:xfrm>
            <a:off x="75414" y="1227484"/>
            <a:ext cx="9002598" cy="3817942"/>
          </a:xfrm>
          <a:prstGeom prst="rect">
            <a:avLst/>
          </a:prstGeom>
        </p:spPr>
      </p:pic>
    </p:spTree>
    <p:extLst>
      <p:ext uri="{BB962C8B-B14F-4D97-AF65-F5344CB8AC3E}">
        <p14:creationId xmlns:p14="http://schemas.microsoft.com/office/powerpoint/2010/main" val="3885034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1651136" y="273377"/>
            <a:ext cx="5841727" cy="584775"/>
          </a:xfrm>
          <a:prstGeom prst="rect">
            <a:avLst/>
          </a:prstGeom>
          <a:noFill/>
        </p:spPr>
        <p:txBody>
          <a:bodyPr wrap="none">
            <a:spAutoFit/>
          </a:bodyPr>
          <a:lstStyle/>
          <a:p>
            <a:pPr algn="ctr">
              <a:defRPr sz="3200" b="1"/>
            </a:pPr>
            <a:r>
              <a:rPr lang="en-US" b="0" i="0" dirty="0">
                <a:effectLst/>
              </a:rPr>
              <a:t>Plot 1: Greece &amp; Top 5 Performers</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954107"/>
          </a:xfrm>
          <a:prstGeom prst="rect">
            <a:avLst/>
          </a:prstGeom>
          <a:noFill/>
        </p:spPr>
        <p:txBody>
          <a:bodyPr wrap="square" rtlCol="0">
            <a:spAutoFit/>
          </a:bodyPr>
          <a:lstStyle/>
          <a:p>
            <a:r>
              <a:rPr lang="en-US" sz="1400" b="0" i="0" dirty="0">
                <a:effectLst/>
              </a:rPr>
              <a:t>The most focused view: Greece compared directly to the five highest-performing countries across all three subjects. This demonstrates the 'Greece vs Top 5' filter option, which provides immediate context for Greece's performance against global leaders. The performance gap is clearly visible, with Greece scoring approximately 100-120 points lower than top performers.</a:t>
            </a:r>
            <a:endParaRPr lang="el-GR" sz="1400" dirty="0"/>
          </a:p>
        </p:txBody>
      </p:sp>
      <p:pic>
        <p:nvPicPr>
          <p:cNvPr id="7" name="Picture 6">
            <a:extLst>
              <a:ext uri="{FF2B5EF4-FFF2-40B4-BE49-F238E27FC236}">
                <a16:creationId xmlns:a16="http://schemas.microsoft.com/office/drawing/2014/main" id="{A6FE78D6-2296-4BA3-88E7-FC499B7DFD6B}"/>
              </a:ext>
            </a:extLst>
          </p:cNvPr>
          <p:cNvPicPr>
            <a:picLocks noChangeAspect="1"/>
          </p:cNvPicPr>
          <p:nvPr/>
        </p:nvPicPr>
        <p:blipFill>
          <a:blip r:embed="rId2"/>
          <a:stretch>
            <a:fillRect/>
          </a:stretch>
        </p:blipFill>
        <p:spPr>
          <a:xfrm>
            <a:off x="94268" y="1262676"/>
            <a:ext cx="8927184" cy="3762522"/>
          </a:xfrm>
          <a:prstGeom prst="rect">
            <a:avLst/>
          </a:prstGeom>
        </p:spPr>
      </p:pic>
    </p:spTree>
    <p:extLst>
      <p:ext uri="{BB962C8B-B14F-4D97-AF65-F5344CB8AC3E}">
        <p14:creationId xmlns:p14="http://schemas.microsoft.com/office/powerpoint/2010/main" val="2117791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60654" y="91440"/>
            <a:ext cx="7022692" cy="584775"/>
          </a:xfrm>
          <a:prstGeom prst="rect">
            <a:avLst/>
          </a:prstGeom>
          <a:noFill/>
        </p:spPr>
        <p:txBody>
          <a:bodyPr wrap="none">
            <a:spAutoFit/>
          </a:bodyPr>
          <a:lstStyle/>
          <a:p>
            <a:pPr algn="ctr">
              <a:defRPr sz="3200" b="1"/>
            </a:pPr>
            <a:r>
              <a:rPr lang="en-US" b="0" i="0" dirty="0">
                <a:effectLst/>
              </a:rPr>
              <a:t>Plot 2: Gender Gap Analysis - Scatter Plot</a:t>
            </a:r>
            <a:endParaRPr dirty="0"/>
          </a:p>
        </p:txBody>
      </p:sp>
      <p:sp>
        <p:nvSpPr>
          <p:cNvPr id="3" name="TextBox 2"/>
          <p:cNvSpPr txBox="1"/>
          <p:nvPr/>
        </p:nvSpPr>
        <p:spPr>
          <a:xfrm>
            <a:off x="731520" y="926655"/>
            <a:ext cx="7680960" cy="5478423"/>
          </a:xfrm>
          <a:prstGeom prst="rect">
            <a:avLst/>
          </a:prstGeom>
          <a:noFill/>
        </p:spPr>
        <p:txBody>
          <a:bodyPr wrap="square">
            <a:spAutoFit/>
          </a:bodyPr>
          <a:lstStyle/>
          <a:p>
            <a:pPr algn="l"/>
            <a:r>
              <a:rPr lang="en-US" sz="1400" b="1" i="0" dirty="0">
                <a:effectLst/>
              </a:rPr>
              <a:t>Interactive Capabilities:</a:t>
            </a:r>
            <a:endParaRPr lang="en-US" sz="1400" b="0" i="0" dirty="0">
              <a:effectLst/>
            </a:endParaRPr>
          </a:p>
          <a:p>
            <a:pPr algn="l"/>
            <a:r>
              <a:rPr lang="en-US" sz="1400" b="0" i="0" dirty="0">
                <a:effectLst/>
              </a:rPr>
              <a:t> Animated Bubble Chart with Subject Switching: </a:t>
            </a:r>
          </a:p>
          <a:p>
            <a:pPr marL="285750" indent="-285750" algn="l">
              <a:buFont typeface="Arial" panose="020B0604020202020204" pitchFamily="34" charset="0"/>
              <a:buChar char="•"/>
            </a:pPr>
            <a:r>
              <a:rPr lang="en-US" sz="1400" b="0" i="0" dirty="0">
                <a:effectLst/>
              </a:rPr>
              <a:t>3 Subjects: Mathematics | Reading | Science </a:t>
            </a:r>
          </a:p>
          <a:p>
            <a:pPr marL="285750" indent="-285750" algn="l">
              <a:buFont typeface="Arial" panose="020B0604020202020204" pitchFamily="34" charset="0"/>
              <a:buChar char="•"/>
            </a:pPr>
            <a:r>
              <a:rPr lang="en-US" sz="1400" b="0" i="0" dirty="0">
                <a:effectLst/>
              </a:rPr>
              <a:t>Bubble size represents number of students tested </a:t>
            </a:r>
          </a:p>
          <a:p>
            <a:pPr marL="285750" indent="-285750" algn="l">
              <a:buFont typeface="Arial" panose="020B0604020202020204" pitchFamily="34" charset="0"/>
              <a:buChar char="•"/>
            </a:pPr>
            <a:r>
              <a:rPr lang="en-US" sz="1400" b="0" i="0" dirty="0">
                <a:effectLst/>
              </a:rPr>
              <a:t>Gold-bordered star = Greece (always highlighted) </a:t>
            </a:r>
          </a:p>
          <a:p>
            <a:pPr marL="285750" indent="-285750" algn="l">
              <a:buFont typeface="Arial" panose="020B0604020202020204" pitchFamily="34" charset="0"/>
              <a:buChar char="•"/>
            </a:pPr>
            <a:r>
              <a:rPr lang="en-US" sz="1400" b="0" i="0" dirty="0">
                <a:effectLst/>
              </a:rPr>
              <a:t>Key countries labeled: Greece, China, Singapore, Estonia, Finland, Japan</a:t>
            </a:r>
          </a:p>
          <a:p>
            <a:pPr algn="l"/>
            <a:r>
              <a:rPr lang="en-US" sz="1400" b="0" i="0" dirty="0">
                <a:effectLst/>
              </a:rPr>
              <a:t> </a:t>
            </a:r>
          </a:p>
          <a:p>
            <a:pPr algn="l"/>
            <a:r>
              <a:rPr lang="en-US" sz="1400" b="1" i="0" dirty="0">
                <a:effectLst/>
              </a:rPr>
              <a:t>Visual Features:</a:t>
            </a:r>
            <a:r>
              <a:rPr lang="en-US" sz="1400" b="0" i="0" dirty="0">
                <a:effectLst/>
              </a:rPr>
              <a:t> </a:t>
            </a:r>
          </a:p>
          <a:p>
            <a:pPr marL="285750" indent="-285750" algn="l">
              <a:buFont typeface="Arial" panose="020B0604020202020204" pitchFamily="34" charset="0"/>
              <a:buChar char="•"/>
            </a:pPr>
            <a:r>
              <a:rPr lang="en-US" sz="1400" b="0" i="0" dirty="0">
                <a:effectLst/>
              </a:rPr>
              <a:t>Scatter plot: X-axis = Country Overall Score, Y-axis = Gender Gap </a:t>
            </a:r>
          </a:p>
          <a:p>
            <a:pPr marL="285750" indent="-285750" algn="l">
              <a:buFont typeface="Arial" panose="020B0604020202020204" pitchFamily="34" charset="0"/>
              <a:buChar char="•"/>
            </a:pPr>
            <a:r>
              <a:rPr lang="en-US" sz="1400" b="0" i="0" dirty="0">
                <a:effectLst/>
              </a:rPr>
              <a:t>Bubble size = Number of students </a:t>
            </a:r>
          </a:p>
          <a:p>
            <a:pPr marL="285750" indent="-285750" algn="l">
              <a:buFont typeface="Arial" panose="020B0604020202020204" pitchFamily="34" charset="0"/>
              <a:buChar char="•"/>
            </a:pPr>
            <a:r>
              <a:rPr lang="en-US" sz="1400" b="0" i="0" dirty="0">
                <a:effectLst/>
              </a:rPr>
              <a:t>Color-coded by subject:</a:t>
            </a:r>
          </a:p>
          <a:p>
            <a:pPr marL="742950" lvl="1" indent="-285750">
              <a:buFont typeface="Arial" panose="020B0604020202020204" pitchFamily="34" charset="0"/>
              <a:buChar char="•"/>
            </a:pPr>
            <a:r>
              <a:rPr lang="en-US" sz="1400" b="0" i="0" dirty="0">
                <a:effectLst/>
              </a:rPr>
              <a:t>Blue: Mathematics</a:t>
            </a:r>
          </a:p>
          <a:p>
            <a:pPr marL="742950" lvl="1" indent="-285750">
              <a:buFont typeface="Arial" panose="020B0604020202020204" pitchFamily="34" charset="0"/>
              <a:buChar char="•"/>
            </a:pPr>
            <a:r>
              <a:rPr lang="en-US" sz="1400" b="0" i="0" dirty="0">
                <a:effectLst/>
              </a:rPr>
              <a:t>Red: Reading</a:t>
            </a:r>
          </a:p>
          <a:p>
            <a:pPr marL="742950" lvl="1" indent="-285750">
              <a:buFont typeface="Arial" panose="020B0604020202020204" pitchFamily="34" charset="0"/>
              <a:buChar char="•"/>
            </a:pPr>
            <a:r>
              <a:rPr lang="en-US" sz="1400" b="0" i="0" dirty="0">
                <a:effectLst/>
              </a:rPr>
              <a:t>Green: Science </a:t>
            </a:r>
          </a:p>
          <a:p>
            <a:pPr marL="742950" lvl="1" indent="-285750">
              <a:buFont typeface="Arial" panose="020B0604020202020204" pitchFamily="34" charset="0"/>
              <a:buChar char="•"/>
            </a:pPr>
            <a:r>
              <a:rPr lang="en-US" sz="1400" b="0" i="0" dirty="0">
                <a:effectLst/>
              </a:rPr>
              <a:t>Greece: Gold-bordered star (color matches subject) </a:t>
            </a:r>
          </a:p>
          <a:p>
            <a:pPr marL="742950" lvl="1" indent="-285750">
              <a:buFont typeface="Arial" panose="020B0604020202020204" pitchFamily="34" charset="0"/>
              <a:buChar char="•"/>
            </a:pPr>
            <a:r>
              <a:rPr lang="en-US" sz="1400" b="0" i="0" dirty="0">
                <a:effectLst/>
              </a:rPr>
              <a:t>Zero line shows equality (Boys = Girls)</a:t>
            </a:r>
          </a:p>
          <a:p>
            <a:pPr algn="l"/>
            <a:endParaRPr lang="en-US" sz="1400" dirty="0"/>
          </a:p>
          <a:p>
            <a:pPr algn="l"/>
            <a:r>
              <a:rPr lang="en-US" sz="1400" b="1" i="0" dirty="0">
                <a:effectLst/>
              </a:rPr>
              <a:t>User Interaction:</a:t>
            </a:r>
            <a:r>
              <a:rPr lang="en-US" sz="1400" b="0" i="0" dirty="0">
                <a:effectLst/>
              </a:rPr>
              <a:t> </a:t>
            </a:r>
          </a:p>
          <a:p>
            <a:pPr marL="285750" indent="-285750" algn="l">
              <a:buFont typeface="Arial" panose="020B0604020202020204" pitchFamily="34" charset="0"/>
              <a:buChar char="•"/>
            </a:pPr>
            <a:r>
              <a:rPr lang="en-US" sz="1400" b="0" i="0" dirty="0">
                <a:effectLst/>
              </a:rPr>
              <a:t>Switch between subjects using dropdown menu </a:t>
            </a:r>
          </a:p>
          <a:p>
            <a:pPr marL="285750" indent="-285750" algn="l">
              <a:buFont typeface="Arial" panose="020B0604020202020204" pitchFamily="34" charset="0"/>
              <a:buChar char="•"/>
            </a:pPr>
            <a:r>
              <a:rPr lang="en-US" sz="1400" b="0" i="0" dirty="0">
                <a:effectLst/>
              </a:rPr>
              <a:t>Hover over bubbles for exact country data </a:t>
            </a:r>
          </a:p>
          <a:p>
            <a:pPr marL="285750" indent="-285750" algn="l">
              <a:buFont typeface="Arial" panose="020B0604020202020204" pitchFamily="34" charset="0"/>
              <a:buChar char="•"/>
            </a:pPr>
            <a:r>
              <a:rPr lang="en-US" sz="1400" b="0" i="0" dirty="0">
                <a:effectLst/>
              </a:rPr>
              <a:t>Instantly see relationship between performance and gender gaps </a:t>
            </a:r>
          </a:p>
          <a:p>
            <a:pPr marL="285750" indent="-285750" algn="l">
              <a:buFont typeface="Arial" panose="020B0604020202020204" pitchFamily="34" charset="0"/>
              <a:buChar char="•"/>
            </a:pPr>
            <a:r>
              <a:rPr lang="en-US" sz="1400" b="0" i="0" dirty="0">
                <a:effectLst/>
              </a:rPr>
              <a:t>Compare Greece's position across all subjects</a:t>
            </a:r>
          </a:p>
          <a:p>
            <a:pPr algn="l"/>
            <a:endParaRPr lang="en-US" sz="1400" dirty="0"/>
          </a:p>
          <a:p>
            <a:pPr algn="l"/>
            <a:r>
              <a:rPr lang="en-US" sz="1400" b="1" i="0" dirty="0">
                <a:effectLst/>
              </a:rPr>
              <a:t>Key Insight:</a:t>
            </a:r>
            <a:r>
              <a:rPr lang="en-US" sz="1400" b="0" i="0" dirty="0">
                <a:effectLst/>
              </a:rPr>
              <a:t> </a:t>
            </a:r>
          </a:p>
          <a:p>
            <a:pPr algn="l"/>
            <a:r>
              <a:rPr lang="en-US" sz="1400" b="0" i="0" dirty="0">
                <a:effectLst/>
              </a:rPr>
              <a:t>No correlation between country performance and gender gaps!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1549153" y="273377"/>
            <a:ext cx="6045694" cy="584775"/>
          </a:xfrm>
          <a:prstGeom prst="rect">
            <a:avLst/>
          </a:prstGeom>
          <a:noFill/>
        </p:spPr>
        <p:txBody>
          <a:bodyPr wrap="none">
            <a:spAutoFit/>
          </a:bodyPr>
          <a:lstStyle/>
          <a:p>
            <a:pPr algn="ctr">
              <a:defRPr sz="3200" b="1"/>
            </a:pPr>
            <a:r>
              <a:rPr lang="en-US" b="0" i="0" dirty="0">
                <a:effectLst/>
              </a:rPr>
              <a:t>Plot 2: Gender Gap in Mathematics</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954107"/>
          </a:xfrm>
          <a:prstGeom prst="rect">
            <a:avLst/>
          </a:prstGeom>
          <a:noFill/>
        </p:spPr>
        <p:txBody>
          <a:bodyPr wrap="square" rtlCol="0">
            <a:spAutoFit/>
          </a:bodyPr>
          <a:lstStyle/>
          <a:p>
            <a:r>
              <a:rPr lang="en-US" sz="1400" b="0" i="0" dirty="0">
                <a:effectLst/>
              </a:rPr>
              <a:t>The Mathematics view reveals traditional gender patterns: boys generally outperform girls across most countries (points above the diagonal line). Bubble size represents overall country performance. Greece (marked with a star) shows a moderate male advantage. Top-performing countries like B-S-J-Z (China) and Singapore maintain high scores for both genders despite the gap.</a:t>
            </a:r>
            <a:endParaRPr lang="el-GR" sz="1400" dirty="0"/>
          </a:p>
        </p:txBody>
      </p:sp>
      <p:pic>
        <p:nvPicPr>
          <p:cNvPr id="6" name="Picture 5">
            <a:extLst>
              <a:ext uri="{FF2B5EF4-FFF2-40B4-BE49-F238E27FC236}">
                <a16:creationId xmlns:a16="http://schemas.microsoft.com/office/drawing/2014/main" id="{774D79BB-4D9B-4E3A-8EBD-CF8295B0858A}"/>
              </a:ext>
            </a:extLst>
          </p:cNvPr>
          <p:cNvPicPr>
            <a:picLocks noChangeAspect="1"/>
          </p:cNvPicPr>
          <p:nvPr/>
        </p:nvPicPr>
        <p:blipFill>
          <a:blip r:embed="rId2"/>
          <a:stretch>
            <a:fillRect/>
          </a:stretch>
        </p:blipFill>
        <p:spPr>
          <a:xfrm>
            <a:off x="188536" y="1076654"/>
            <a:ext cx="8682087" cy="3825283"/>
          </a:xfrm>
          <a:prstGeom prst="rect">
            <a:avLst/>
          </a:prstGeom>
        </p:spPr>
      </p:pic>
    </p:spTree>
    <p:extLst>
      <p:ext uri="{BB962C8B-B14F-4D97-AF65-F5344CB8AC3E}">
        <p14:creationId xmlns:p14="http://schemas.microsoft.com/office/powerpoint/2010/main" val="302947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1975391" y="273377"/>
            <a:ext cx="5193217" cy="584775"/>
          </a:xfrm>
          <a:prstGeom prst="rect">
            <a:avLst/>
          </a:prstGeom>
          <a:noFill/>
        </p:spPr>
        <p:txBody>
          <a:bodyPr wrap="none">
            <a:spAutoFit/>
          </a:bodyPr>
          <a:lstStyle/>
          <a:p>
            <a:pPr algn="ctr">
              <a:defRPr sz="3200" b="1"/>
            </a:pPr>
            <a:r>
              <a:rPr lang="en-US" b="0" i="0" dirty="0">
                <a:effectLst/>
              </a:rPr>
              <a:t>Plot 2: Gender Gap in Reading</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954107"/>
          </a:xfrm>
          <a:prstGeom prst="rect">
            <a:avLst/>
          </a:prstGeom>
          <a:noFill/>
        </p:spPr>
        <p:txBody>
          <a:bodyPr wrap="square" rtlCol="0">
            <a:spAutoFit/>
          </a:bodyPr>
          <a:lstStyle/>
          <a:p>
            <a:r>
              <a:rPr lang="en-US" sz="1400" b="0" i="0" dirty="0">
                <a:effectLst/>
              </a:rPr>
              <a:t>Reading shows the opposite pattern: girls significantly outperform boys in nearly all countries (most points below the diagonal line). This is the most pronounced gender gap across all three domains. Greece follows this global trend with girls scoring notably higher. The consistency of this pattern across diverse education systems is remarkable.</a:t>
            </a:r>
            <a:endParaRPr lang="el-GR" sz="1400" dirty="0"/>
          </a:p>
        </p:txBody>
      </p:sp>
      <p:pic>
        <p:nvPicPr>
          <p:cNvPr id="6" name="Picture 5">
            <a:extLst>
              <a:ext uri="{FF2B5EF4-FFF2-40B4-BE49-F238E27FC236}">
                <a16:creationId xmlns:a16="http://schemas.microsoft.com/office/drawing/2014/main" id="{5C2BE0A8-4CB3-4EDB-860B-AEF249134CB8}"/>
              </a:ext>
            </a:extLst>
          </p:cNvPr>
          <p:cNvPicPr>
            <a:picLocks noChangeAspect="1"/>
          </p:cNvPicPr>
          <p:nvPr/>
        </p:nvPicPr>
        <p:blipFill>
          <a:blip r:embed="rId2"/>
          <a:stretch>
            <a:fillRect/>
          </a:stretch>
        </p:blipFill>
        <p:spPr>
          <a:xfrm>
            <a:off x="105592" y="1055803"/>
            <a:ext cx="8821592" cy="3963279"/>
          </a:xfrm>
          <a:prstGeom prst="rect">
            <a:avLst/>
          </a:prstGeom>
        </p:spPr>
      </p:pic>
    </p:spTree>
    <p:extLst>
      <p:ext uri="{BB962C8B-B14F-4D97-AF65-F5344CB8AC3E}">
        <p14:creationId xmlns:p14="http://schemas.microsoft.com/office/powerpoint/2010/main" val="1409124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94E59-FF95-45AB-8FFE-17E36B2C6FEB}"/>
              </a:ext>
            </a:extLst>
          </p:cNvPr>
          <p:cNvSpPr txBox="1"/>
          <p:nvPr/>
        </p:nvSpPr>
        <p:spPr>
          <a:xfrm>
            <a:off x="2017454" y="273377"/>
            <a:ext cx="5109091" cy="584775"/>
          </a:xfrm>
          <a:prstGeom prst="rect">
            <a:avLst/>
          </a:prstGeom>
          <a:noFill/>
        </p:spPr>
        <p:txBody>
          <a:bodyPr wrap="none">
            <a:spAutoFit/>
          </a:bodyPr>
          <a:lstStyle/>
          <a:p>
            <a:pPr algn="ctr">
              <a:defRPr sz="3200" b="1"/>
            </a:pPr>
            <a:r>
              <a:rPr lang="en-US" b="0" i="0" dirty="0">
                <a:effectLst/>
              </a:rPr>
              <a:t>Plot 2: Gender Gap in Science</a:t>
            </a:r>
            <a:endParaRPr dirty="0"/>
          </a:p>
        </p:txBody>
      </p:sp>
      <p:sp>
        <p:nvSpPr>
          <p:cNvPr id="3" name="TextBox 2">
            <a:extLst>
              <a:ext uri="{FF2B5EF4-FFF2-40B4-BE49-F238E27FC236}">
                <a16:creationId xmlns:a16="http://schemas.microsoft.com/office/drawing/2014/main" id="{AC716B31-D0A8-478D-9F44-C52141716A07}"/>
              </a:ext>
            </a:extLst>
          </p:cNvPr>
          <p:cNvSpPr txBox="1"/>
          <p:nvPr/>
        </p:nvSpPr>
        <p:spPr>
          <a:xfrm>
            <a:off x="4479630" y="5799055"/>
            <a:ext cx="184730" cy="584775"/>
          </a:xfrm>
          <a:prstGeom prst="rect">
            <a:avLst/>
          </a:prstGeom>
          <a:noFill/>
        </p:spPr>
        <p:txBody>
          <a:bodyPr wrap="none">
            <a:spAutoFit/>
          </a:bodyPr>
          <a:lstStyle/>
          <a:p>
            <a:pPr algn="ctr">
              <a:defRPr sz="3200" b="1"/>
            </a:pPr>
            <a:endParaRPr dirty="0"/>
          </a:p>
        </p:txBody>
      </p:sp>
      <p:sp>
        <p:nvSpPr>
          <p:cNvPr id="4" name="TextBox 3">
            <a:extLst>
              <a:ext uri="{FF2B5EF4-FFF2-40B4-BE49-F238E27FC236}">
                <a16:creationId xmlns:a16="http://schemas.microsoft.com/office/drawing/2014/main" id="{E55BC630-145F-4346-8B6E-4FDB6E74B461}"/>
              </a:ext>
            </a:extLst>
          </p:cNvPr>
          <p:cNvSpPr txBox="1"/>
          <p:nvPr/>
        </p:nvSpPr>
        <p:spPr>
          <a:xfrm>
            <a:off x="801278" y="5429723"/>
            <a:ext cx="7739407" cy="954107"/>
          </a:xfrm>
          <a:prstGeom prst="rect">
            <a:avLst/>
          </a:prstGeom>
          <a:noFill/>
        </p:spPr>
        <p:txBody>
          <a:bodyPr wrap="square" rtlCol="0">
            <a:spAutoFit/>
          </a:bodyPr>
          <a:lstStyle/>
          <a:p>
            <a:r>
              <a:rPr lang="en-US" sz="1400" b="0" i="0" dirty="0">
                <a:effectLst/>
              </a:rPr>
              <a:t>Science performance shows the most balanced gender distribution, with countries clustered closer to the diagonal line of equality. Some countries show male advantages, others female advantages, and many show near parity. Greece demonstrates relatively balanced performance between genders in Science, positioning near the equity line among high-performing nations.</a:t>
            </a:r>
            <a:endParaRPr lang="el-GR" sz="1400" dirty="0"/>
          </a:p>
        </p:txBody>
      </p:sp>
      <p:pic>
        <p:nvPicPr>
          <p:cNvPr id="6" name="Picture 5">
            <a:extLst>
              <a:ext uri="{FF2B5EF4-FFF2-40B4-BE49-F238E27FC236}">
                <a16:creationId xmlns:a16="http://schemas.microsoft.com/office/drawing/2014/main" id="{92CE062F-8222-4C84-B4FA-FC36A41A5146}"/>
              </a:ext>
            </a:extLst>
          </p:cNvPr>
          <p:cNvPicPr>
            <a:picLocks noChangeAspect="1"/>
          </p:cNvPicPr>
          <p:nvPr/>
        </p:nvPicPr>
        <p:blipFill>
          <a:blip r:embed="rId2"/>
          <a:stretch>
            <a:fillRect/>
          </a:stretch>
        </p:blipFill>
        <p:spPr>
          <a:xfrm>
            <a:off x="150829" y="1238910"/>
            <a:ext cx="8842342" cy="3745947"/>
          </a:xfrm>
          <a:prstGeom prst="rect">
            <a:avLst/>
          </a:prstGeom>
        </p:spPr>
      </p:pic>
    </p:spTree>
    <p:extLst>
      <p:ext uri="{BB962C8B-B14F-4D97-AF65-F5344CB8AC3E}">
        <p14:creationId xmlns:p14="http://schemas.microsoft.com/office/powerpoint/2010/main" val="16997478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4269"/>
            <a:ext cx="8229600" cy="731520"/>
          </a:xfrm>
          <a:prstGeom prst="rect">
            <a:avLst/>
          </a:prstGeom>
          <a:noFill/>
        </p:spPr>
        <p:txBody>
          <a:bodyPr wrap="none">
            <a:spAutoFit/>
          </a:bodyPr>
          <a:lstStyle/>
          <a:p>
            <a:pPr algn="ctr">
              <a:defRPr sz="3200" b="1"/>
            </a:pPr>
            <a:r>
              <a:rPr dirty="0"/>
              <a:t>Key Insights from Interactive Exploration</a:t>
            </a:r>
          </a:p>
        </p:txBody>
      </p:sp>
      <p:sp>
        <p:nvSpPr>
          <p:cNvPr id="3" name="TextBox 2"/>
          <p:cNvSpPr txBox="1"/>
          <p:nvPr/>
        </p:nvSpPr>
        <p:spPr>
          <a:xfrm>
            <a:off x="731520" y="812592"/>
            <a:ext cx="7680960" cy="5247590"/>
          </a:xfrm>
          <a:prstGeom prst="rect">
            <a:avLst/>
          </a:prstGeom>
          <a:noFill/>
        </p:spPr>
        <p:txBody>
          <a:bodyPr wrap="square">
            <a:spAutoFit/>
          </a:bodyPr>
          <a:lstStyle/>
          <a:p>
            <a:pPr>
              <a:spcBef>
                <a:spcPts val="600"/>
              </a:spcBef>
              <a:defRPr sz="1500"/>
            </a:pPr>
            <a:r>
              <a:rPr b="1" dirty="0"/>
              <a:t>From Plot 1 (Country Performance):</a:t>
            </a:r>
          </a:p>
          <a:p>
            <a:pPr marL="285750" indent="-285750">
              <a:spcBef>
                <a:spcPts val="600"/>
              </a:spcBef>
              <a:buFont typeface="Arial" panose="020B0604020202020204" pitchFamily="34" charset="0"/>
              <a:buChar char="•"/>
              <a:defRPr sz="1500"/>
            </a:pPr>
            <a:r>
              <a:rPr dirty="0"/>
              <a:t>China leads in all subjects with 582.39 overall score</a:t>
            </a:r>
          </a:p>
          <a:p>
            <a:pPr marL="285750" indent="-285750">
              <a:spcBef>
                <a:spcPts val="600"/>
              </a:spcBef>
              <a:buFont typeface="Arial" panose="020B0604020202020204" pitchFamily="34" charset="0"/>
              <a:buChar char="•"/>
              <a:defRPr sz="1500"/>
            </a:pPr>
            <a:r>
              <a:rPr dirty="0"/>
              <a:t>Top performers show consistent excellence across subjects</a:t>
            </a:r>
          </a:p>
          <a:p>
            <a:pPr marL="285750" indent="-285750">
              <a:spcBef>
                <a:spcPts val="600"/>
              </a:spcBef>
              <a:buFont typeface="Arial" panose="020B0604020202020204" pitchFamily="34" charset="0"/>
              <a:buChar char="•"/>
              <a:defRPr sz="1500"/>
            </a:pPr>
            <a:r>
              <a:rPr dirty="0"/>
              <a:t>Greece's gap with top performers: ~126 points from #1</a:t>
            </a:r>
          </a:p>
          <a:p>
            <a:pPr marL="285750" indent="-285750">
              <a:spcBef>
                <a:spcPts val="600"/>
              </a:spcBef>
              <a:buFont typeface="Arial" panose="020B0604020202020204" pitchFamily="34" charset="0"/>
              <a:buChar char="•"/>
              <a:defRPr sz="1500"/>
            </a:pPr>
            <a:r>
              <a:rPr dirty="0"/>
              <a:t>Top 10 countries all score above 500 points</a:t>
            </a:r>
            <a:endParaRPr lang="en-US" dirty="0"/>
          </a:p>
          <a:p>
            <a:pPr marL="285750" indent="-285750">
              <a:spcBef>
                <a:spcPts val="600"/>
              </a:spcBef>
              <a:buFont typeface="Arial" panose="020B0604020202020204" pitchFamily="34" charset="0"/>
              <a:buChar char="•"/>
              <a:defRPr sz="1500"/>
            </a:pPr>
            <a:r>
              <a:rPr lang="en-US" b="0" i="0" dirty="0">
                <a:effectLst/>
              </a:rPr>
              <a:t>Interactive filters reveal different ranking patterns by subject</a:t>
            </a:r>
            <a:endParaRPr dirty="0"/>
          </a:p>
          <a:p>
            <a:pPr>
              <a:spcBef>
                <a:spcPts val="600"/>
              </a:spcBef>
              <a:defRPr sz="1500"/>
            </a:pPr>
            <a:endParaRPr dirty="0"/>
          </a:p>
          <a:p>
            <a:pPr>
              <a:spcBef>
                <a:spcPts val="600"/>
              </a:spcBef>
              <a:defRPr sz="1500"/>
            </a:pPr>
            <a:r>
              <a:rPr b="1" dirty="0"/>
              <a:t>From Plot 2 (Gender Performance):</a:t>
            </a:r>
          </a:p>
          <a:p>
            <a:pPr marL="285750" indent="-285750">
              <a:spcBef>
                <a:spcPts val="600"/>
              </a:spcBef>
              <a:buFont typeface="Arial" panose="020B0604020202020204" pitchFamily="34" charset="0"/>
              <a:buChar char="•"/>
              <a:defRPr sz="1500"/>
            </a:pPr>
            <a:r>
              <a:rPr dirty="0"/>
              <a:t>Reading shows largest gender gaps globally (favoring girls)</a:t>
            </a:r>
          </a:p>
          <a:p>
            <a:pPr marL="285750" indent="-285750">
              <a:spcBef>
                <a:spcPts val="600"/>
              </a:spcBef>
              <a:buFont typeface="Arial" panose="020B0604020202020204" pitchFamily="34" charset="0"/>
              <a:buChar char="•"/>
              <a:defRPr sz="1500"/>
            </a:pPr>
            <a:r>
              <a:rPr dirty="0"/>
              <a:t>Math shows smallest gender gaps across countries</a:t>
            </a:r>
          </a:p>
          <a:p>
            <a:pPr marL="285750" indent="-285750">
              <a:spcBef>
                <a:spcPts val="600"/>
              </a:spcBef>
              <a:buFont typeface="Arial" panose="020B0604020202020204" pitchFamily="34" charset="0"/>
              <a:buChar char="•"/>
              <a:defRPr sz="1500"/>
            </a:pPr>
            <a:r>
              <a:rPr dirty="0"/>
              <a:t>Greece: Girls outperform in Reading (+40.7) and Science (+10.5)</a:t>
            </a:r>
          </a:p>
          <a:p>
            <a:pPr marL="285750" indent="-285750">
              <a:spcBef>
                <a:spcPts val="600"/>
              </a:spcBef>
              <a:buFont typeface="Arial" panose="020B0604020202020204" pitchFamily="34" charset="0"/>
              <a:buChar char="•"/>
              <a:defRPr sz="1500"/>
            </a:pPr>
            <a:r>
              <a:rPr dirty="0"/>
              <a:t>Top-performing countries: Gender gaps vary widely</a:t>
            </a:r>
          </a:p>
          <a:p>
            <a:pPr>
              <a:spcBef>
                <a:spcPts val="600"/>
              </a:spcBef>
              <a:defRPr sz="1500"/>
            </a:pPr>
            <a:endParaRPr dirty="0"/>
          </a:p>
          <a:p>
            <a:pPr>
              <a:spcBef>
                <a:spcPts val="600"/>
              </a:spcBef>
              <a:defRPr sz="1500"/>
            </a:pPr>
            <a:r>
              <a:rPr b="1" dirty="0"/>
              <a:t>Interactive Advantage:</a:t>
            </a:r>
          </a:p>
          <a:p>
            <a:pPr marL="285750" indent="-285750" algn="l">
              <a:buFont typeface="Arial" panose="020B0604020202020204" pitchFamily="34" charset="0"/>
              <a:buChar char="•"/>
            </a:pPr>
            <a:r>
              <a:rPr lang="en-US" sz="1500" i="0" dirty="0">
                <a:effectLst/>
              </a:rPr>
              <a:t>Filter by country count (All, Top 10, Top 20, Greece vs Top 5)</a:t>
            </a:r>
          </a:p>
          <a:p>
            <a:pPr marL="285750" indent="-285750" algn="l">
              <a:buFont typeface="Arial" panose="020B0604020202020204" pitchFamily="34" charset="0"/>
              <a:buChar char="•"/>
            </a:pPr>
            <a:r>
              <a:rPr lang="en-US" sz="1500" i="0" dirty="0">
                <a:effectLst/>
              </a:rPr>
              <a:t>Select specific subjects or view all three combined</a:t>
            </a:r>
          </a:p>
          <a:p>
            <a:pPr marL="285750" indent="-285750" algn="l">
              <a:buFont typeface="Arial" panose="020B0604020202020204" pitchFamily="34" charset="0"/>
              <a:buChar char="•"/>
            </a:pPr>
            <a:r>
              <a:rPr lang="en-US" sz="1500" i="0" dirty="0">
                <a:effectLst/>
              </a:rPr>
              <a:t>Switch between subjects in gender analysis instantly</a:t>
            </a:r>
          </a:p>
          <a:p>
            <a:pPr marL="285750" indent="-285750" algn="l">
              <a:buFont typeface="Arial" panose="020B0604020202020204" pitchFamily="34" charset="0"/>
              <a:buChar char="•"/>
            </a:pPr>
            <a:r>
              <a:rPr lang="en-US" sz="1500" i="0" dirty="0">
                <a:effectLst/>
              </a:rPr>
              <a:t>Explore patterns with self-guided, customized views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991</Words>
  <Application>Microsoft Office PowerPoint</Application>
  <PresentationFormat>On-screen Show (4:3)</PresentationFormat>
  <Paragraphs>98</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-apple-system</vt:lpstr>
      <vt:lpstr>Arial</vt:lpstr>
      <vt:lpstr>Calibri</vt:lpstr>
      <vt:lpstr>Office Theme</vt:lpstr>
      <vt:lpstr>Interactive Visualizations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Interactive Visualizations</dc:title>
  <dc:subject/>
  <dc:creator/>
  <cp:keywords/>
  <dc:description>generated using python-pptx</dc:description>
  <cp:lastModifiedBy>Giorgos Kitsakis</cp:lastModifiedBy>
  <cp:revision>3</cp:revision>
  <dcterms:created xsi:type="dcterms:W3CDTF">2013-01-27T09:14:16Z</dcterms:created>
  <dcterms:modified xsi:type="dcterms:W3CDTF">2025-11-07T12:44:21Z</dcterms:modified>
  <cp:category/>
</cp:coreProperties>
</file>